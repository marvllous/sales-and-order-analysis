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27" r:id="rId2"/>
    <p:sldId id="328" r:id="rId3"/>
    <p:sldId id="329" r:id="rId4"/>
    <p:sldId id="265" r:id="rId5"/>
    <p:sldId id="330" r:id="rId6"/>
    <p:sldId id="331" r:id="rId7"/>
    <p:sldId id="313" r:id="rId8"/>
    <p:sldId id="339" r:id="rId9"/>
    <p:sldId id="332" r:id="rId10"/>
    <p:sldId id="333" r:id="rId11"/>
    <p:sldId id="340" r:id="rId12"/>
    <p:sldId id="334" r:id="rId13"/>
    <p:sldId id="335" r:id="rId14"/>
    <p:sldId id="341" r:id="rId15"/>
    <p:sldId id="336" r:id="rId16"/>
    <p:sldId id="337" r:id="rId17"/>
    <p:sldId id="33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00787-1BCF-49A4-AEE3-3D638012C7D3}" v="3" dt="2026-09-03T10:35:59.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78368" autoAdjust="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vellous Umeilechukwu" userId="393bd7af080be98a" providerId="LiveId" clId="{A1A9F92C-0618-40C7-96A4-2A705D697653}"/>
    <pc:docChg chg="undo custSel addSld delSld modSld">
      <pc:chgData name="Marvellous Umeilechukwu" userId="393bd7af080be98a" providerId="LiveId" clId="{A1A9F92C-0618-40C7-96A4-2A705D697653}" dt="2026-09-04T11:44:26.268" v="129" actId="20577"/>
      <pc:docMkLst>
        <pc:docMk/>
      </pc:docMkLst>
      <pc:sldChg chg="del">
        <pc:chgData name="Marvellous Umeilechukwu" userId="393bd7af080be98a" providerId="LiveId" clId="{A1A9F92C-0618-40C7-96A4-2A705D697653}" dt="2026-09-03T10:37:17.960" v="78"/>
        <pc:sldMkLst>
          <pc:docMk/>
          <pc:sldMk cId="1437265958" sldId="259"/>
        </pc:sldMkLst>
      </pc:sldChg>
      <pc:sldChg chg="modSp del mod">
        <pc:chgData name="Marvellous Umeilechukwu" userId="393bd7af080be98a" providerId="LiveId" clId="{A1A9F92C-0618-40C7-96A4-2A705D697653}" dt="2026-09-03T10:37:47.248" v="80"/>
        <pc:sldMkLst>
          <pc:docMk/>
          <pc:sldMk cId="2724816851" sldId="261"/>
        </pc:sldMkLst>
      </pc:sldChg>
      <pc:sldChg chg="del modNotesTx">
        <pc:chgData name="Marvellous Umeilechukwu" userId="393bd7af080be98a" providerId="LiveId" clId="{A1A9F92C-0618-40C7-96A4-2A705D697653}" dt="2026-09-03T10:37:47.520" v="82"/>
        <pc:sldMkLst>
          <pc:docMk/>
          <pc:sldMk cId="675054667" sldId="263"/>
        </pc:sldMkLst>
      </pc:sldChg>
      <pc:sldChg chg="modSp mod">
        <pc:chgData name="Marvellous Umeilechukwu" userId="393bd7af080be98a" providerId="LiveId" clId="{A1A9F92C-0618-40C7-96A4-2A705D697653}" dt="2026-09-02T23:57:06.835" v="11" actId="20577"/>
        <pc:sldMkLst>
          <pc:docMk/>
          <pc:sldMk cId="2085260884" sldId="265"/>
        </pc:sldMkLst>
        <pc:spChg chg="mod">
          <ac:chgData name="Marvellous Umeilechukwu" userId="393bd7af080be98a" providerId="LiveId" clId="{A1A9F92C-0618-40C7-96A4-2A705D697653}" dt="2026-09-02T23:57:06.835" v="11" actId="20577"/>
          <ac:spMkLst>
            <pc:docMk/>
            <pc:sldMk cId="2085260884" sldId="265"/>
            <ac:spMk id="3" creationId="{D2B1CD31-AFAA-EB58-3F00-791138D1763E}"/>
          </ac:spMkLst>
        </pc:spChg>
      </pc:sldChg>
      <pc:sldChg chg="del modNotesTx">
        <pc:chgData name="Marvellous Umeilechukwu" userId="393bd7af080be98a" providerId="LiveId" clId="{A1A9F92C-0618-40C7-96A4-2A705D697653}" dt="2026-09-03T10:37:47.902" v="84"/>
        <pc:sldMkLst>
          <pc:docMk/>
          <pc:sldMk cId="920853082" sldId="267"/>
        </pc:sldMkLst>
      </pc:sldChg>
      <pc:sldChg chg="del">
        <pc:chgData name="Marvellous Umeilechukwu" userId="393bd7af080be98a" providerId="LiveId" clId="{A1A9F92C-0618-40C7-96A4-2A705D697653}" dt="2026-09-03T10:39:24.075" v="94"/>
        <pc:sldMkLst>
          <pc:docMk/>
          <pc:sldMk cId="666851902" sldId="269"/>
        </pc:sldMkLst>
      </pc:sldChg>
      <pc:sldChg chg="modSp del mod">
        <pc:chgData name="Marvellous Umeilechukwu" userId="393bd7af080be98a" providerId="LiveId" clId="{A1A9F92C-0618-40C7-96A4-2A705D697653}" dt="2026-09-03T08:59:29.210" v="45"/>
        <pc:sldMkLst>
          <pc:docMk/>
          <pc:sldMk cId="3349896939" sldId="293"/>
        </pc:sldMkLst>
      </pc:sldChg>
      <pc:sldChg chg="modSp del mod modNotesTx">
        <pc:chgData name="Marvellous Umeilechukwu" userId="393bd7af080be98a" providerId="LiveId" clId="{A1A9F92C-0618-40C7-96A4-2A705D697653}" dt="2026-09-03T10:40:36.081" v="114"/>
        <pc:sldMkLst>
          <pc:docMk/>
          <pc:sldMk cId="3176865368" sldId="297"/>
        </pc:sldMkLst>
        <pc:spChg chg="mod">
          <ac:chgData name="Marvellous Umeilechukwu" userId="393bd7af080be98a" providerId="LiveId" clId="{A1A9F92C-0618-40C7-96A4-2A705D697653}" dt="2026-09-03T10:24:49.078" v="72" actId="1076"/>
          <ac:spMkLst>
            <pc:docMk/>
            <pc:sldMk cId="3176865368" sldId="297"/>
            <ac:spMk id="702" creationId="{00000000-0000-0000-0000-000000000000}"/>
          </ac:spMkLst>
        </pc:spChg>
      </pc:sldChg>
      <pc:sldChg chg="del">
        <pc:chgData name="Marvellous Umeilechukwu" userId="393bd7af080be98a" providerId="LiveId" clId="{A1A9F92C-0618-40C7-96A4-2A705D697653}" dt="2026-09-03T10:39:50.386" v="104"/>
        <pc:sldMkLst>
          <pc:docMk/>
          <pc:sldMk cId="1683702815" sldId="299"/>
        </pc:sldMkLst>
      </pc:sldChg>
      <pc:sldChg chg="modSp del mod">
        <pc:chgData name="Marvellous Umeilechukwu" userId="393bd7af080be98a" providerId="LiveId" clId="{A1A9F92C-0618-40C7-96A4-2A705D697653}" dt="2026-09-03T09:30:04.640" v="56"/>
        <pc:sldMkLst>
          <pc:docMk/>
          <pc:sldMk cId="613740524" sldId="303"/>
        </pc:sldMkLst>
      </pc:sldChg>
      <pc:sldChg chg="modSp del mod">
        <pc:chgData name="Marvellous Umeilechukwu" userId="393bd7af080be98a" providerId="LiveId" clId="{A1A9F92C-0618-40C7-96A4-2A705D697653}" dt="2026-09-03T09:02:08.912" v="47"/>
        <pc:sldMkLst>
          <pc:docMk/>
          <pc:sldMk cId="3355719840" sldId="306"/>
        </pc:sldMkLst>
      </pc:sldChg>
      <pc:sldChg chg="del modNotesTx">
        <pc:chgData name="Marvellous Umeilechukwu" userId="393bd7af080be98a" providerId="LiveId" clId="{A1A9F92C-0618-40C7-96A4-2A705D697653}" dt="2026-09-03T10:39:29.271" v="96"/>
        <pc:sldMkLst>
          <pc:docMk/>
          <pc:sldMk cId="3856490719" sldId="309"/>
        </pc:sldMkLst>
      </pc:sldChg>
      <pc:sldChg chg="del">
        <pc:chgData name="Marvellous Umeilechukwu" userId="393bd7af080be98a" providerId="LiveId" clId="{A1A9F92C-0618-40C7-96A4-2A705D697653}" dt="2026-09-03T10:39:34.249" v="98"/>
        <pc:sldMkLst>
          <pc:docMk/>
          <pc:sldMk cId="3784306195" sldId="310"/>
        </pc:sldMkLst>
      </pc:sldChg>
      <pc:sldChg chg="del">
        <pc:chgData name="Marvellous Umeilechukwu" userId="393bd7af080be98a" providerId="LiveId" clId="{A1A9F92C-0618-40C7-96A4-2A705D697653}" dt="2026-09-03T09:10:55.537" v="52"/>
        <pc:sldMkLst>
          <pc:docMk/>
          <pc:sldMk cId="2895983337" sldId="311"/>
        </pc:sldMkLst>
      </pc:sldChg>
      <pc:sldChg chg="del">
        <pc:chgData name="Marvellous Umeilechukwu" userId="393bd7af080be98a" providerId="LiveId" clId="{A1A9F92C-0618-40C7-96A4-2A705D697653}" dt="2026-09-03T10:39:39.623" v="100"/>
        <pc:sldMkLst>
          <pc:docMk/>
          <pc:sldMk cId="2780122631" sldId="312"/>
        </pc:sldMkLst>
      </pc:sldChg>
      <pc:sldChg chg="add del">
        <pc:chgData name="Marvellous Umeilechukwu" userId="393bd7af080be98a" providerId="LiveId" clId="{A1A9F92C-0618-40C7-96A4-2A705D697653}" dt="2026-09-03T10:40:26.032" v="110"/>
        <pc:sldMkLst>
          <pc:docMk/>
          <pc:sldMk cId="3966138355" sldId="315"/>
        </pc:sldMkLst>
      </pc:sldChg>
      <pc:sldChg chg="add del">
        <pc:chgData name="Marvellous Umeilechukwu" userId="393bd7af080be98a" providerId="LiveId" clId="{A1A9F92C-0618-40C7-96A4-2A705D697653}" dt="2026-09-03T09:02:34.664" v="50"/>
        <pc:sldMkLst>
          <pc:docMk/>
          <pc:sldMk cId="1092258299" sldId="316"/>
        </pc:sldMkLst>
      </pc:sldChg>
      <pc:sldChg chg="modSp add del mod">
        <pc:chgData name="Marvellous Umeilechukwu" userId="393bd7af080be98a" providerId="LiveId" clId="{A1A9F92C-0618-40C7-96A4-2A705D697653}" dt="2026-09-03T10:40:00.661" v="108"/>
        <pc:sldMkLst>
          <pc:docMk/>
          <pc:sldMk cId="1277896941" sldId="317"/>
        </pc:sldMkLst>
        <pc:spChg chg="mod">
          <ac:chgData name="Marvellous Umeilechukwu" userId="393bd7af080be98a" providerId="LiveId" clId="{A1A9F92C-0618-40C7-96A4-2A705D697653}" dt="2026-09-03T09:02:08.983" v="48" actId="27636"/>
          <ac:spMkLst>
            <pc:docMk/>
            <pc:sldMk cId="1277896941" sldId="317"/>
            <ac:spMk id="3" creationId="{6C4EBEBB-4571-82DC-33A2-66FFD5831668}"/>
          </ac:spMkLst>
        </pc:spChg>
      </pc:sldChg>
      <pc:sldChg chg="add del modNotesTx">
        <pc:chgData name="Marvellous Umeilechukwu" userId="393bd7af080be98a" providerId="LiveId" clId="{A1A9F92C-0618-40C7-96A4-2A705D697653}" dt="2026-09-03T09:42:22.327" v="58"/>
        <pc:sldMkLst>
          <pc:docMk/>
          <pc:sldMk cId="2851193296" sldId="318"/>
        </pc:sldMkLst>
      </pc:sldChg>
      <pc:sldChg chg="add del">
        <pc:chgData name="Marvellous Umeilechukwu" userId="393bd7af080be98a" providerId="LiveId" clId="{A1A9F92C-0618-40C7-96A4-2A705D697653}" dt="2026-09-03T10:40:31.602" v="112"/>
        <pc:sldMkLst>
          <pc:docMk/>
          <pc:sldMk cId="1030751600" sldId="319"/>
        </pc:sldMkLst>
      </pc:sldChg>
      <pc:sldChg chg="modSp add del mod">
        <pc:chgData name="Marvellous Umeilechukwu" userId="393bd7af080be98a" providerId="LiveId" clId="{A1A9F92C-0618-40C7-96A4-2A705D697653}" dt="2026-09-03T10:39:55.352" v="106"/>
        <pc:sldMkLst>
          <pc:docMk/>
          <pc:sldMk cId="627110762" sldId="320"/>
        </pc:sldMkLst>
        <pc:spChg chg="mod">
          <ac:chgData name="Marvellous Umeilechukwu" userId="393bd7af080be98a" providerId="LiveId" clId="{A1A9F92C-0618-40C7-96A4-2A705D697653}" dt="2026-09-03T10:27:25.109" v="76" actId="20577"/>
          <ac:spMkLst>
            <pc:docMk/>
            <pc:sldMk cId="627110762" sldId="320"/>
            <ac:spMk id="802" creationId="{00000000-0000-0000-0000-000000000000}"/>
          </ac:spMkLst>
        </pc:spChg>
      </pc:sldChg>
      <pc:sldChg chg="add del">
        <pc:chgData name="Marvellous Umeilechukwu" userId="393bd7af080be98a" providerId="LiveId" clId="{A1A9F92C-0618-40C7-96A4-2A705D697653}" dt="2026-09-03T09:47:44.889" v="60"/>
        <pc:sldMkLst>
          <pc:docMk/>
          <pc:sldMk cId="538570513" sldId="321"/>
        </pc:sldMkLst>
      </pc:sldChg>
      <pc:sldChg chg="add del modNotesTx">
        <pc:chgData name="Marvellous Umeilechukwu" userId="393bd7af080be98a" providerId="LiveId" clId="{A1A9F92C-0618-40C7-96A4-2A705D697653}" dt="2026-09-03T10:39:45.470" v="102"/>
        <pc:sldMkLst>
          <pc:docMk/>
          <pc:sldMk cId="2175080090" sldId="322"/>
        </pc:sldMkLst>
      </pc:sldChg>
      <pc:sldChg chg="add del">
        <pc:chgData name="Marvellous Umeilechukwu" userId="393bd7af080be98a" providerId="LiveId" clId="{A1A9F92C-0618-40C7-96A4-2A705D697653}" dt="2026-09-03T10:38:58.597" v="86"/>
        <pc:sldMkLst>
          <pc:docMk/>
          <pc:sldMk cId="1478205938" sldId="323"/>
        </pc:sldMkLst>
      </pc:sldChg>
      <pc:sldChg chg="add del">
        <pc:chgData name="Marvellous Umeilechukwu" userId="393bd7af080be98a" providerId="LiveId" clId="{A1A9F92C-0618-40C7-96A4-2A705D697653}" dt="2026-09-03T10:39:03.965" v="88"/>
        <pc:sldMkLst>
          <pc:docMk/>
          <pc:sldMk cId="3624064266" sldId="324"/>
        </pc:sldMkLst>
      </pc:sldChg>
      <pc:sldChg chg="add del">
        <pc:chgData name="Marvellous Umeilechukwu" userId="393bd7af080be98a" providerId="LiveId" clId="{A1A9F92C-0618-40C7-96A4-2A705D697653}" dt="2026-09-03T10:39:09.193" v="90"/>
        <pc:sldMkLst>
          <pc:docMk/>
          <pc:sldMk cId="740596438" sldId="325"/>
        </pc:sldMkLst>
      </pc:sldChg>
      <pc:sldChg chg="add del">
        <pc:chgData name="Marvellous Umeilechukwu" userId="393bd7af080be98a" providerId="LiveId" clId="{A1A9F92C-0618-40C7-96A4-2A705D697653}" dt="2026-09-03T10:39:13.837" v="92"/>
        <pc:sldMkLst>
          <pc:docMk/>
          <pc:sldMk cId="1983425153" sldId="326"/>
        </pc:sldMkLst>
      </pc:sldChg>
      <pc:sldChg chg="add">
        <pc:chgData name="Marvellous Umeilechukwu" userId="393bd7af080be98a" providerId="LiveId" clId="{A1A9F92C-0618-40C7-96A4-2A705D697653}" dt="2026-09-03T10:38:58.587" v="85"/>
        <pc:sldMkLst>
          <pc:docMk/>
          <pc:sldMk cId="4192549853" sldId="327"/>
        </pc:sldMkLst>
      </pc:sldChg>
      <pc:sldChg chg="add modNotesTx">
        <pc:chgData name="Marvellous Umeilechukwu" userId="393bd7af080be98a" providerId="LiveId" clId="{A1A9F92C-0618-40C7-96A4-2A705D697653}" dt="2026-09-03T10:41:34.189" v="119" actId="20577"/>
        <pc:sldMkLst>
          <pc:docMk/>
          <pc:sldMk cId="688805051" sldId="328"/>
        </pc:sldMkLst>
      </pc:sldChg>
      <pc:sldChg chg="add">
        <pc:chgData name="Marvellous Umeilechukwu" userId="393bd7af080be98a" providerId="LiveId" clId="{A1A9F92C-0618-40C7-96A4-2A705D697653}" dt="2026-09-03T10:39:09.187" v="89"/>
        <pc:sldMkLst>
          <pc:docMk/>
          <pc:sldMk cId="344246081" sldId="329"/>
        </pc:sldMkLst>
      </pc:sldChg>
      <pc:sldChg chg="add">
        <pc:chgData name="Marvellous Umeilechukwu" userId="393bd7af080be98a" providerId="LiveId" clId="{A1A9F92C-0618-40C7-96A4-2A705D697653}" dt="2026-09-03T10:39:13.829" v="91"/>
        <pc:sldMkLst>
          <pc:docMk/>
          <pc:sldMk cId="4284875230" sldId="330"/>
        </pc:sldMkLst>
      </pc:sldChg>
      <pc:sldChg chg="add modNotesTx">
        <pc:chgData name="Marvellous Umeilechukwu" userId="393bd7af080be98a" providerId="LiveId" clId="{A1A9F92C-0618-40C7-96A4-2A705D697653}" dt="2026-09-03T10:42:17.103" v="121" actId="20577"/>
        <pc:sldMkLst>
          <pc:docMk/>
          <pc:sldMk cId="366167020" sldId="331"/>
        </pc:sldMkLst>
      </pc:sldChg>
      <pc:sldChg chg="add">
        <pc:chgData name="Marvellous Umeilechukwu" userId="393bd7af080be98a" providerId="LiveId" clId="{A1A9F92C-0618-40C7-96A4-2A705D697653}" dt="2026-09-03T10:39:29.268" v="95"/>
        <pc:sldMkLst>
          <pc:docMk/>
          <pc:sldMk cId="1579160965" sldId="332"/>
        </pc:sldMkLst>
      </pc:sldChg>
      <pc:sldChg chg="add">
        <pc:chgData name="Marvellous Umeilechukwu" userId="393bd7af080be98a" providerId="LiveId" clId="{A1A9F92C-0618-40C7-96A4-2A705D697653}" dt="2026-09-03T10:39:34.235" v="97"/>
        <pc:sldMkLst>
          <pc:docMk/>
          <pc:sldMk cId="2019634834" sldId="333"/>
        </pc:sldMkLst>
      </pc:sldChg>
      <pc:sldChg chg="add">
        <pc:chgData name="Marvellous Umeilechukwu" userId="393bd7af080be98a" providerId="LiveId" clId="{A1A9F92C-0618-40C7-96A4-2A705D697653}" dt="2026-09-03T10:39:39.620" v="99"/>
        <pc:sldMkLst>
          <pc:docMk/>
          <pc:sldMk cId="3619929371" sldId="334"/>
        </pc:sldMkLst>
      </pc:sldChg>
      <pc:sldChg chg="add modNotesTx">
        <pc:chgData name="Marvellous Umeilechukwu" userId="393bd7af080be98a" providerId="LiveId" clId="{A1A9F92C-0618-40C7-96A4-2A705D697653}" dt="2026-09-03T10:43:08.593" v="125" actId="33524"/>
        <pc:sldMkLst>
          <pc:docMk/>
          <pc:sldMk cId="3489263601" sldId="335"/>
        </pc:sldMkLst>
      </pc:sldChg>
      <pc:sldChg chg="add">
        <pc:chgData name="Marvellous Umeilechukwu" userId="393bd7af080be98a" providerId="LiveId" clId="{A1A9F92C-0618-40C7-96A4-2A705D697653}" dt="2026-09-03T10:39:50.379" v="103"/>
        <pc:sldMkLst>
          <pc:docMk/>
          <pc:sldMk cId="2880984454" sldId="336"/>
        </pc:sldMkLst>
      </pc:sldChg>
      <pc:sldChg chg="modSp add mod">
        <pc:chgData name="Marvellous Umeilechukwu" userId="393bd7af080be98a" providerId="LiveId" clId="{A1A9F92C-0618-40C7-96A4-2A705D697653}" dt="2026-09-04T11:44:26.268" v="129" actId="20577"/>
        <pc:sldMkLst>
          <pc:docMk/>
          <pc:sldMk cId="467159077" sldId="337"/>
        </pc:sldMkLst>
        <pc:spChg chg="mod">
          <ac:chgData name="Marvellous Umeilechukwu" userId="393bd7af080be98a" providerId="LiveId" clId="{A1A9F92C-0618-40C7-96A4-2A705D697653}" dt="2026-09-04T11:44:26.268" v="129" actId="20577"/>
          <ac:spMkLst>
            <pc:docMk/>
            <pc:sldMk cId="467159077" sldId="337"/>
            <ac:spMk id="802" creationId="{00000000-0000-0000-0000-000000000000}"/>
          </ac:spMkLst>
        </pc:spChg>
      </pc:sldChg>
      <pc:sldChg chg="add">
        <pc:chgData name="Marvellous Umeilechukwu" userId="393bd7af080be98a" providerId="LiveId" clId="{A1A9F92C-0618-40C7-96A4-2A705D697653}" dt="2026-09-03T10:40:00.656" v="107"/>
        <pc:sldMkLst>
          <pc:docMk/>
          <pc:sldMk cId="4148719809" sldId="338"/>
        </pc:sldMkLst>
      </pc:sldChg>
      <pc:sldChg chg="add">
        <pc:chgData name="Marvellous Umeilechukwu" userId="393bd7af080be98a" providerId="LiveId" clId="{A1A9F92C-0618-40C7-96A4-2A705D697653}" dt="2026-09-03T10:40:26.025" v="109"/>
        <pc:sldMkLst>
          <pc:docMk/>
          <pc:sldMk cId="2131962242" sldId="339"/>
        </pc:sldMkLst>
      </pc:sldChg>
      <pc:sldChg chg="add">
        <pc:chgData name="Marvellous Umeilechukwu" userId="393bd7af080be98a" providerId="LiveId" clId="{A1A9F92C-0618-40C7-96A4-2A705D697653}" dt="2026-09-03T10:40:31.588" v="111"/>
        <pc:sldMkLst>
          <pc:docMk/>
          <pc:sldMk cId="886338506" sldId="340"/>
        </pc:sldMkLst>
      </pc:sldChg>
      <pc:sldChg chg="add">
        <pc:chgData name="Marvellous Umeilechukwu" userId="393bd7af080be98a" providerId="LiveId" clId="{A1A9F92C-0618-40C7-96A4-2A705D697653}" dt="2026-09-03T10:40:36.076" v="113"/>
        <pc:sldMkLst>
          <pc:docMk/>
          <pc:sldMk cId="312681775" sldId="341"/>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pPr>
              <a:defRPr sz="1600"/>
            </a:pPr>
            <a:r>
              <a:rPr lang="en-US" sz="1600"/>
              <a:t>Daily Gross Sales - June 2026</a:t>
            </a:r>
          </a:p>
        </c:rich>
      </c:tx>
      <c:overlay val="0"/>
    </c:title>
    <c:autoTitleDeleted val="0"/>
    <c:plotArea>
      <c:layout/>
      <c:lineChart>
        <c:grouping val="standard"/>
        <c:varyColors val="0"/>
        <c:ser>
          <c:idx val="0"/>
          <c:order val="0"/>
          <c:tx>
            <c:strRef>
              <c:f>Sheet1!$B$1</c:f>
              <c:strCache>
                <c:ptCount val="1"/>
                <c:pt idx="0">
                  <c:v>Gross Sales (EUR)</c:v>
                </c:pt>
              </c:strCache>
            </c:strRef>
          </c:tx>
          <c:spPr>
            <a:ln w="28575">
              <a:solidFill>
                <a:srgbClr val="1E7145"/>
              </a:solidFill>
            </a:ln>
          </c:spPr>
          <c:marker>
            <c:symbol val="circle"/>
            <c:size val="5"/>
            <c:spPr>
              <a:solidFill>
                <a:srgbClr val="1E7145"/>
              </a:solidFill>
            </c:spPr>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strLit>
              <c:ptCount val="30"/>
              <c:pt idx="0">
                <c:v>Day 1</c:v>
              </c:pt>
              <c:pt idx="1">
                <c:v>Day 2</c:v>
              </c:pt>
              <c:pt idx="2">
                <c:v>Day 3</c:v>
              </c:pt>
              <c:pt idx="3">
                <c:v>Day 4</c:v>
              </c:pt>
              <c:pt idx="4">
                <c:v>Day 5</c:v>
              </c:pt>
              <c:pt idx="5">
                <c:v>Day 6</c:v>
              </c:pt>
              <c:pt idx="6">
                <c:v>Day 7</c:v>
              </c:pt>
              <c:pt idx="7">
                <c:v>Day 8</c:v>
              </c:pt>
              <c:pt idx="8">
                <c:v>Day 9</c:v>
              </c:pt>
              <c:pt idx="9">
                <c:v>Day 10</c:v>
              </c:pt>
              <c:pt idx="10">
                <c:v>Day 11</c:v>
              </c:pt>
              <c:pt idx="11">
                <c:v>Day 12</c:v>
              </c:pt>
              <c:pt idx="12">
                <c:v>Day 13</c:v>
              </c:pt>
              <c:pt idx="13">
                <c:v>Day 14</c:v>
              </c:pt>
              <c:pt idx="14">
                <c:v>Day 15</c:v>
              </c:pt>
              <c:pt idx="15">
                <c:v>Day 16</c:v>
              </c:pt>
              <c:pt idx="16">
                <c:v>Day 17</c:v>
              </c:pt>
              <c:pt idx="17">
                <c:v>Day 18</c:v>
              </c:pt>
              <c:pt idx="18">
                <c:v>Day 19</c:v>
              </c:pt>
              <c:pt idx="19">
                <c:v>Day 20</c:v>
              </c:pt>
              <c:pt idx="20">
                <c:v>Day 21</c:v>
              </c:pt>
              <c:pt idx="21">
                <c:v>Day 22</c:v>
              </c:pt>
              <c:pt idx="22">
                <c:v>Day 23</c:v>
              </c:pt>
              <c:pt idx="23">
                <c:v>Day 24</c:v>
              </c:pt>
              <c:pt idx="24">
                <c:v>Day 25</c:v>
              </c:pt>
              <c:pt idx="25">
                <c:v>Day 26</c:v>
              </c:pt>
              <c:pt idx="26">
                <c:v>Day 27</c:v>
              </c:pt>
              <c:pt idx="27">
                <c:v>Day 28</c:v>
              </c:pt>
              <c:pt idx="28">
                <c:v>Day 29</c:v>
              </c:pt>
              <c:pt idx="29">
                <c:v>Day 30</c:v>
              </c:pt>
            </c:strLit>
          </c:cat>
          <c:val>
            <c:numLit>
              <c:formatCode>General</c:formatCode>
              <c:ptCount val="30"/>
              <c:pt idx="0">
                <c:v>334.2</c:v>
              </c:pt>
              <c:pt idx="1">
                <c:v>270.60000000000002</c:v>
              </c:pt>
              <c:pt idx="2">
                <c:v>115.5</c:v>
              </c:pt>
              <c:pt idx="3">
                <c:v>409.2</c:v>
              </c:pt>
              <c:pt idx="4">
                <c:v>481.1</c:v>
              </c:pt>
              <c:pt idx="5">
                <c:v>537.20000000000005</c:v>
              </c:pt>
              <c:pt idx="6">
                <c:v>484.6</c:v>
              </c:pt>
              <c:pt idx="7">
                <c:v>391.7</c:v>
              </c:pt>
              <c:pt idx="8">
                <c:v>359.1</c:v>
              </c:pt>
              <c:pt idx="9">
                <c:v>560.79999999999995</c:v>
              </c:pt>
              <c:pt idx="10">
                <c:v>424.3</c:v>
              </c:pt>
              <c:pt idx="11">
                <c:v>745.8</c:v>
              </c:pt>
              <c:pt idx="12">
                <c:v>370.8</c:v>
              </c:pt>
              <c:pt idx="13">
                <c:v>385.9</c:v>
              </c:pt>
              <c:pt idx="14">
                <c:v>503.1</c:v>
              </c:pt>
              <c:pt idx="15">
                <c:v>333.4</c:v>
              </c:pt>
              <c:pt idx="16">
                <c:v>599.6</c:v>
              </c:pt>
              <c:pt idx="17">
                <c:v>369.2</c:v>
              </c:pt>
              <c:pt idx="18">
                <c:v>310</c:v>
              </c:pt>
              <c:pt idx="19">
                <c:v>541.79999999999995</c:v>
              </c:pt>
              <c:pt idx="20">
                <c:v>410.2</c:v>
              </c:pt>
              <c:pt idx="21">
                <c:v>243.4</c:v>
              </c:pt>
              <c:pt idx="22">
                <c:v>257.60000000000002</c:v>
              </c:pt>
              <c:pt idx="23">
                <c:v>556.79999999999995</c:v>
              </c:pt>
              <c:pt idx="24">
                <c:v>607</c:v>
              </c:pt>
              <c:pt idx="25">
                <c:v>296.89999999999998</c:v>
              </c:pt>
              <c:pt idx="26">
                <c:v>211.6</c:v>
              </c:pt>
              <c:pt idx="27">
                <c:v>590.4</c:v>
              </c:pt>
              <c:pt idx="28">
                <c:v>686.9</c:v>
              </c:pt>
              <c:pt idx="29">
                <c:v>571.79999999999995</c:v>
              </c:pt>
            </c:numLit>
          </c:val>
          <c:smooth val="0"/>
          <c:extLst>
            <c:ext xmlns:c16="http://schemas.microsoft.com/office/drawing/2014/chart" uri="{C3380CC4-5D6E-409C-BE32-E72D297353CC}">
              <c16:uniqueId val="{00000000-7682-4DD6-AE2A-17C60343BBDF}"/>
            </c:ext>
          </c:extLst>
        </c:ser>
        <c:dLbls>
          <c:showLegendKey val="0"/>
          <c:showVal val="0"/>
          <c:showCatName val="0"/>
          <c:showSerName val="0"/>
          <c:showPercent val="0"/>
          <c:showBubbleSize val="0"/>
        </c:dLbls>
        <c:marker val="1"/>
        <c:smooth val="0"/>
        <c:axId val="1"/>
        <c:axId val="2"/>
      </c:lineChart>
      <c:catAx>
        <c:axId val="1"/>
        <c:scaling>
          <c:orientation val="minMax"/>
        </c:scaling>
        <c:delete val="0"/>
        <c:axPos val="b"/>
        <c:numFmt formatCode="General" sourceLinked="0"/>
        <c:majorTickMark val="none"/>
        <c:minorTickMark val="none"/>
        <c:tickLblPos val="nextTo"/>
        <c:txPr>
          <a:bodyPr/>
          <a:lstStyle/>
          <a:p>
            <a:pPr>
              <a:defRPr sz="1000"/>
            </a:pPr>
            <a:endParaRPr lang="en-US"/>
          </a:p>
        </c:txPr>
        <c:crossAx val="2"/>
        <c:crosses val="autoZero"/>
        <c:auto val="1"/>
        <c:lblAlgn val="ctr"/>
        <c:lblOffset val="100"/>
        <c:tickLblSkip val="4"/>
        <c:noMultiLvlLbl val="1"/>
      </c:catAx>
      <c:valAx>
        <c:axId val="2"/>
        <c:scaling>
          <c:orientation val="minMax"/>
        </c:scaling>
        <c:delete val="0"/>
        <c:axPos val="l"/>
        <c:numFmt formatCode="General" sourceLinked="1"/>
        <c:majorTickMark val="out"/>
        <c:minorTickMark val="none"/>
        <c:tickLblPos val="nextTo"/>
        <c:txPr>
          <a:bodyPr/>
          <a:lstStyle/>
          <a:p>
            <a:pPr>
              <a:defRPr sz="1400"/>
            </a:pPr>
            <a:endParaRPr lang="en-US"/>
          </a:p>
        </c:txPr>
        <c:crossAx val="1"/>
        <c:crosses val="autoZero"/>
        <c:crossBetween val="between"/>
      </c:valAx>
    </c:plotArea>
    <c:legend>
      <c:legendPos val="t"/>
      <c:overlay val="0"/>
      <c:txPr>
        <a:bodyPr/>
        <a:lstStyle/>
        <a:p>
          <a:pPr>
            <a:defRPr sz="1400"/>
          </a:pPr>
          <a:endParaRPr lang="en-US"/>
        </a:p>
      </c:txPr>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pPr>
              <a:defRPr sz="1600" b="1"/>
            </a:pPr>
            <a:r>
              <a:rPr lang="en-US" sz="1600" b="1"/>
              <a:t>Gross Sales by County - All 16 Counties (EUR)</a:t>
            </a:r>
          </a:p>
        </c:rich>
      </c:tx>
      <c:overlay val="0"/>
    </c:title>
    <c:autoTitleDeleted val="0"/>
    <c:plotArea>
      <c:layout/>
      <c:barChart>
        <c:barDir val="bar"/>
        <c:grouping val="clustered"/>
        <c:varyColors val="0"/>
        <c:ser>
          <c:idx val="0"/>
          <c:order val="0"/>
          <c:tx>
            <c:v>Gross Sales (EUR)</c:v>
          </c:tx>
          <c:spPr>
            <a:solidFill>
              <a:srgbClr val="1E7145"/>
            </a:solidFill>
            <a:ln>
              <a:noFill/>
            </a:ln>
          </c:spPr>
          <c:invertIfNegative val="1"/>
          <c:dPt>
            <c:idx val="0"/>
            <c:invertIfNegative val="0"/>
            <c:bubble3D val="0"/>
            <c:extLst>
              <c:ext xmlns:c16="http://schemas.microsoft.com/office/drawing/2014/chart" uri="{C3380CC4-5D6E-409C-BE32-E72D297353CC}">
                <c16:uniqueId val="{00000001-F00A-4582-BC82-E9AF892AA4FE}"/>
              </c:ext>
            </c:extLst>
          </c:dPt>
          <c:dPt>
            <c:idx val="1"/>
            <c:invertIfNegative val="0"/>
            <c:bubble3D val="0"/>
            <c:extLst>
              <c:ext xmlns:c16="http://schemas.microsoft.com/office/drawing/2014/chart" uri="{C3380CC4-5D6E-409C-BE32-E72D297353CC}">
                <c16:uniqueId val="{00000003-F00A-4582-BC82-E9AF892AA4FE}"/>
              </c:ext>
            </c:extLst>
          </c:dPt>
          <c:dPt>
            <c:idx val="2"/>
            <c:invertIfNegative val="0"/>
            <c:bubble3D val="0"/>
            <c:extLst>
              <c:ext xmlns:c16="http://schemas.microsoft.com/office/drawing/2014/chart" uri="{C3380CC4-5D6E-409C-BE32-E72D297353CC}">
                <c16:uniqueId val="{00000005-F00A-4582-BC82-E9AF892AA4FE}"/>
              </c:ext>
            </c:extLst>
          </c:dPt>
          <c:dPt>
            <c:idx val="3"/>
            <c:invertIfNegative val="0"/>
            <c:bubble3D val="0"/>
            <c:extLst>
              <c:ext xmlns:c16="http://schemas.microsoft.com/office/drawing/2014/chart" uri="{C3380CC4-5D6E-409C-BE32-E72D297353CC}">
                <c16:uniqueId val="{00000007-F00A-4582-BC82-E9AF892AA4FE}"/>
              </c:ext>
            </c:extLst>
          </c:dPt>
          <c:dPt>
            <c:idx val="4"/>
            <c:invertIfNegative val="0"/>
            <c:bubble3D val="0"/>
            <c:extLst>
              <c:ext xmlns:c16="http://schemas.microsoft.com/office/drawing/2014/chart" uri="{C3380CC4-5D6E-409C-BE32-E72D297353CC}">
                <c16:uniqueId val="{00000009-F00A-4582-BC82-E9AF892AA4FE}"/>
              </c:ext>
            </c:extLst>
          </c:dPt>
          <c:dPt>
            <c:idx val="5"/>
            <c:invertIfNegative val="0"/>
            <c:bubble3D val="0"/>
            <c:spPr>
              <a:solidFill>
                <a:srgbClr val="8FCB9B"/>
              </a:solidFill>
              <a:ln>
                <a:noFill/>
              </a:ln>
            </c:spPr>
            <c:extLst>
              <c:ext xmlns:c16="http://schemas.microsoft.com/office/drawing/2014/chart" uri="{C3380CC4-5D6E-409C-BE32-E72D297353CC}">
                <c16:uniqueId val="{0000000B-F00A-4582-BC82-E9AF892AA4FE}"/>
              </c:ext>
            </c:extLst>
          </c:dPt>
          <c:dPt>
            <c:idx val="6"/>
            <c:invertIfNegative val="0"/>
            <c:bubble3D val="0"/>
            <c:spPr>
              <a:solidFill>
                <a:srgbClr val="8FCB9B"/>
              </a:solidFill>
              <a:ln>
                <a:noFill/>
              </a:ln>
            </c:spPr>
            <c:extLst>
              <c:ext xmlns:c16="http://schemas.microsoft.com/office/drawing/2014/chart" uri="{C3380CC4-5D6E-409C-BE32-E72D297353CC}">
                <c16:uniqueId val="{0000000D-F00A-4582-BC82-E9AF892AA4FE}"/>
              </c:ext>
            </c:extLst>
          </c:dPt>
          <c:dPt>
            <c:idx val="7"/>
            <c:invertIfNegative val="0"/>
            <c:bubble3D val="0"/>
            <c:spPr>
              <a:solidFill>
                <a:srgbClr val="8FCB9B"/>
              </a:solidFill>
              <a:ln>
                <a:noFill/>
              </a:ln>
            </c:spPr>
            <c:extLst>
              <c:ext xmlns:c16="http://schemas.microsoft.com/office/drawing/2014/chart" uri="{C3380CC4-5D6E-409C-BE32-E72D297353CC}">
                <c16:uniqueId val="{0000000F-F00A-4582-BC82-E9AF892AA4FE}"/>
              </c:ext>
            </c:extLst>
          </c:dPt>
          <c:dPt>
            <c:idx val="8"/>
            <c:invertIfNegative val="0"/>
            <c:bubble3D val="0"/>
            <c:spPr>
              <a:solidFill>
                <a:srgbClr val="8FCB9B"/>
              </a:solidFill>
              <a:ln>
                <a:noFill/>
              </a:ln>
            </c:spPr>
            <c:extLst>
              <c:ext xmlns:c16="http://schemas.microsoft.com/office/drawing/2014/chart" uri="{C3380CC4-5D6E-409C-BE32-E72D297353CC}">
                <c16:uniqueId val="{00000011-F00A-4582-BC82-E9AF892AA4FE}"/>
              </c:ext>
            </c:extLst>
          </c:dPt>
          <c:dPt>
            <c:idx val="9"/>
            <c:invertIfNegative val="0"/>
            <c:bubble3D val="0"/>
            <c:spPr>
              <a:solidFill>
                <a:srgbClr val="8FCB9B"/>
              </a:solidFill>
              <a:ln>
                <a:noFill/>
              </a:ln>
            </c:spPr>
            <c:extLst>
              <c:ext xmlns:c16="http://schemas.microsoft.com/office/drawing/2014/chart" uri="{C3380CC4-5D6E-409C-BE32-E72D297353CC}">
                <c16:uniqueId val="{00000013-F00A-4582-BC82-E9AF892AA4FE}"/>
              </c:ext>
            </c:extLst>
          </c:dPt>
          <c:dPt>
            <c:idx val="10"/>
            <c:invertIfNegative val="0"/>
            <c:bubble3D val="0"/>
            <c:spPr>
              <a:solidFill>
                <a:srgbClr val="8FCB9B"/>
              </a:solidFill>
              <a:ln>
                <a:noFill/>
              </a:ln>
            </c:spPr>
            <c:extLst>
              <c:ext xmlns:c16="http://schemas.microsoft.com/office/drawing/2014/chart" uri="{C3380CC4-5D6E-409C-BE32-E72D297353CC}">
                <c16:uniqueId val="{00000015-F00A-4582-BC82-E9AF892AA4FE}"/>
              </c:ext>
            </c:extLst>
          </c:dPt>
          <c:dPt>
            <c:idx val="11"/>
            <c:invertIfNegative val="0"/>
            <c:bubble3D val="0"/>
            <c:spPr>
              <a:solidFill>
                <a:srgbClr val="8FCB9B"/>
              </a:solidFill>
              <a:ln>
                <a:noFill/>
              </a:ln>
            </c:spPr>
            <c:extLst>
              <c:ext xmlns:c16="http://schemas.microsoft.com/office/drawing/2014/chart" uri="{C3380CC4-5D6E-409C-BE32-E72D297353CC}">
                <c16:uniqueId val="{00000017-F00A-4582-BC82-E9AF892AA4FE}"/>
              </c:ext>
            </c:extLst>
          </c:dPt>
          <c:dPt>
            <c:idx val="12"/>
            <c:invertIfNegative val="0"/>
            <c:bubble3D val="0"/>
            <c:spPr>
              <a:solidFill>
                <a:srgbClr val="8FCB9B"/>
              </a:solidFill>
              <a:ln>
                <a:noFill/>
              </a:ln>
            </c:spPr>
            <c:extLst>
              <c:ext xmlns:c16="http://schemas.microsoft.com/office/drawing/2014/chart" uri="{C3380CC4-5D6E-409C-BE32-E72D297353CC}">
                <c16:uniqueId val="{00000019-F00A-4582-BC82-E9AF892AA4FE}"/>
              </c:ext>
            </c:extLst>
          </c:dPt>
          <c:dPt>
            <c:idx val="13"/>
            <c:invertIfNegative val="0"/>
            <c:bubble3D val="0"/>
            <c:spPr>
              <a:solidFill>
                <a:srgbClr val="C0392B"/>
              </a:solidFill>
              <a:ln>
                <a:noFill/>
              </a:ln>
            </c:spPr>
            <c:extLst>
              <c:ext xmlns:c16="http://schemas.microsoft.com/office/drawing/2014/chart" uri="{C3380CC4-5D6E-409C-BE32-E72D297353CC}">
                <c16:uniqueId val="{0000001B-F00A-4582-BC82-E9AF892AA4FE}"/>
              </c:ext>
            </c:extLst>
          </c:dPt>
          <c:dPt>
            <c:idx val="14"/>
            <c:invertIfNegative val="0"/>
            <c:bubble3D val="0"/>
            <c:spPr>
              <a:solidFill>
                <a:srgbClr val="C0392B"/>
              </a:solidFill>
              <a:ln>
                <a:noFill/>
              </a:ln>
            </c:spPr>
            <c:extLst>
              <c:ext xmlns:c16="http://schemas.microsoft.com/office/drawing/2014/chart" uri="{C3380CC4-5D6E-409C-BE32-E72D297353CC}">
                <c16:uniqueId val="{0000001D-F00A-4582-BC82-E9AF892AA4FE}"/>
              </c:ext>
            </c:extLst>
          </c:dPt>
          <c:dPt>
            <c:idx val="15"/>
            <c:invertIfNegative val="0"/>
            <c:bubble3D val="0"/>
            <c:spPr>
              <a:solidFill>
                <a:srgbClr val="C0392B"/>
              </a:solidFill>
              <a:ln>
                <a:noFill/>
              </a:ln>
            </c:spPr>
            <c:extLst>
              <c:ext xmlns:c16="http://schemas.microsoft.com/office/drawing/2014/chart" uri="{C3380CC4-5D6E-409C-BE32-E72D297353CC}">
                <c16:uniqueId val="{0000001F-F00A-4582-BC82-E9AF892AA4FE}"/>
              </c:ext>
            </c:extLst>
          </c:dPt>
          <c:dLbls>
            <c:numFmt formatCode="&quot;€&quot;#,##0" sourceLinked="0"/>
            <c:spPr>
              <a:noFill/>
              <a:ln>
                <a:noFill/>
              </a:ln>
            </c:spPr>
            <c:txPr>
              <a:bodyPr/>
              <a:lstStyle/>
              <a:p>
                <a:pPr>
                  <a:defRPr sz="1000"/>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16"/>
              <c:pt idx="0">
                <c:v>Waterford</c:v>
              </c:pt>
              <c:pt idx="1">
                <c:v>Wexford</c:v>
              </c:pt>
              <c:pt idx="2">
                <c:v>Louth</c:v>
              </c:pt>
              <c:pt idx="3">
                <c:v>Offaly</c:v>
              </c:pt>
              <c:pt idx="4">
                <c:v>Galway</c:v>
              </c:pt>
              <c:pt idx="5">
                <c:v>Kerry</c:v>
              </c:pt>
              <c:pt idx="6">
                <c:v>Clare</c:v>
              </c:pt>
              <c:pt idx="7">
                <c:v>Meath</c:v>
              </c:pt>
              <c:pt idx="8">
                <c:v>Tipperary</c:v>
              </c:pt>
              <c:pt idx="9">
                <c:v>Kildare</c:v>
              </c:pt>
              <c:pt idx="10">
                <c:v>Sligo</c:v>
              </c:pt>
              <c:pt idx="11">
                <c:v>Donegal</c:v>
              </c:pt>
              <c:pt idx="12">
                <c:v>Dublin</c:v>
              </c:pt>
              <c:pt idx="13">
                <c:v>Mayo</c:v>
              </c:pt>
              <c:pt idx="14">
                <c:v>Cork</c:v>
              </c:pt>
              <c:pt idx="15">
                <c:v>Limerick</c:v>
              </c:pt>
            </c:strLit>
          </c:cat>
          <c:val>
            <c:numLit>
              <c:formatCode>General</c:formatCode>
              <c:ptCount val="16"/>
              <c:pt idx="0">
                <c:v>1530</c:v>
              </c:pt>
              <c:pt idx="1">
                <c:v>1474.3</c:v>
              </c:pt>
              <c:pt idx="2">
                <c:v>1194.4000000000001</c:v>
              </c:pt>
              <c:pt idx="3">
                <c:v>1140.5999999999999</c:v>
              </c:pt>
              <c:pt idx="4">
                <c:v>1078.9000000000001</c:v>
              </c:pt>
              <c:pt idx="5">
                <c:v>925</c:v>
              </c:pt>
              <c:pt idx="6">
                <c:v>878.3</c:v>
              </c:pt>
              <c:pt idx="7">
                <c:v>873.1</c:v>
              </c:pt>
              <c:pt idx="8">
                <c:v>829.5</c:v>
              </c:pt>
              <c:pt idx="9">
                <c:v>804.2</c:v>
              </c:pt>
              <c:pt idx="10">
                <c:v>649.70000000000005</c:v>
              </c:pt>
              <c:pt idx="11">
                <c:v>425.1</c:v>
              </c:pt>
              <c:pt idx="12">
                <c:v>414.1</c:v>
              </c:pt>
              <c:pt idx="13">
                <c:v>286</c:v>
              </c:pt>
              <c:pt idx="14">
                <c:v>243.5</c:v>
              </c:pt>
              <c:pt idx="15">
                <c:v>213.8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0-F00A-4582-BC82-E9AF892AA4FE}"/>
            </c:ext>
          </c:extLst>
        </c:ser>
        <c:dLbls>
          <c:showLegendKey val="0"/>
          <c:showVal val="0"/>
          <c:showCatName val="0"/>
          <c:showSerName val="0"/>
          <c:showPercent val="0"/>
          <c:showBubbleSize val="1"/>
        </c:dLbls>
        <c:gapWidth val="40"/>
        <c:axId val="1"/>
        <c:axId val="2"/>
      </c:barChart>
      <c:catAx>
        <c:axId val="1"/>
        <c:scaling>
          <c:orientation val="maxMin"/>
        </c:scaling>
        <c:delete val="0"/>
        <c:axPos val="l"/>
        <c:numFmt formatCode="General" sourceLinked="0"/>
        <c:majorTickMark val="none"/>
        <c:minorTickMark val="none"/>
        <c:tickLblPos val="nextTo"/>
        <c:txPr>
          <a:bodyPr/>
          <a:lstStyle/>
          <a:p>
            <a:pPr>
              <a:defRPr sz="1000"/>
            </a:pPr>
            <a:endParaRPr lang="en-US"/>
          </a:p>
        </c:txPr>
        <c:crossAx val="2"/>
        <c:crosses val="autoZero"/>
        <c:auto val="1"/>
        <c:lblAlgn val="ctr"/>
        <c:lblOffset val="100"/>
        <c:noMultiLvlLbl val="1"/>
      </c:catAx>
      <c:valAx>
        <c:axId val="2"/>
        <c:scaling>
          <c:orientation val="minMax"/>
        </c:scaling>
        <c:delete val="0"/>
        <c:axPos val="t"/>
        <c:numFmt formatCode="General" sourceLinked="1"/>
        <c:majorTickMark val="out"/>
        <c:minorTickMark val="none"/>
        <c:tickLblPos val="nextTo"/>
        <c:txPr>
          <a:bodyPr/>
          <a:lstStyle/>
          <a:p>
            <a:pPr>
              <a:defRPr sz="1000"/>
            </a:pPr>
            <a:endParaRPr lang="en-US"/>
          </a:p>
        </c:txPr>
        <c:crossAx val="1"/>
        <c:crosses val="autoZero"/>
        <c:crossBetween val="between"/>
      </c:valAx>
    </c:plotArea>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pPr>
              <a:defRPr sz="1600"/>
            </a:pPr>
            <a:r>
              <a:rPr lang="en-US" sz="1600"/>
              <a:t>Revenue Share by Channel</a:t>
            </a:r>
          </a:p>
        </c:rich>
      </c:tx>
      <c:overlay val="0"/>
    </c:title>
    <c:autoTitleDeleted val="0"/>
    <c:plotArea>
      <c:layout/>
      <c:doughnutChart>
        <c:varyColors val="1"/>
        <c:ser>
          <c:idx val="0"/>
          <c:order val="0"/>
          <c:tx>
            <c:v>Revenue</c:v>
          </c:tx>
          <c:dPt>
            <c:idx val="0"/>
            <c:bubble3D val="0"/>
            <c:spPr>
              <a:solidFill>
                <a:srgbClr val="1E7145"/>
              </a:solidFill>
            </c:spPr>
            <c:extLst>
              <c:ext xmlns:c16="http://schemas.microsoft.com/office/drawing/2014/chart" uri="{C3380CC4-5D6E-409C-BE32-E72D297353CC}">
                <c16:uniqueId val="{00000001-F9E8-45D3-8938-0C5F9B7F2968}"/>
              </c:ext>
            </c:extLst>
          </c:dPt>
          <c:dPt>
            <c:idx val="1"/>
            <c:bubble3D val="0"/>
            <c:spPr>
              <a:solidFill>
                <a:srgbClr val="4CA771"/>
              </a:solidFill>
            </c:spPr>
            <c:extLst>
              <c:ext xmlns:c16="http://schemas.microsoft.com/office/drawing/2014/chart" uri="{C3380CC4-5D6E-409C-BE32-E72D297353CC}">
                <c16:uniqueId val="{00000003-F9E8-45D3-8938-0C5F9B7F2968}"/>
              </c:ext>
            </c:extLst>
          </c:dPt>
          <c:dPt>
            <c:idx val="2"/>
            <c:bubble3D val="0"/>
            <c:spPr>
              <a:solidFill>
                <a:srgbClr val="8FCB9B"/>
              </a:solidFill>
            </c:spPr>
            <c:extLst>
              <c:ext xmlns:c16="http://schemas.microsoft.com/office/drawing/2014/chart" uri="{C3380CC4-5D6E-409C-BE32-E72D297353CC}">
                <c16:uniqueId val="{00000005-F9E8-45D3-8938-0C5F9B7F2968}"/>
              </c:ext>
            </c:extLst>
          </c:dPt>
          <c:dPt>
            <c:idx val="3"/>
            <c:bubble3D val="0"/>
            <c:spPr>
              <a:solidFill>
                <a:srgbClr val="2E5B4A"/>
              </a:solidFill>
            </c:spPr>
            <c:extLst>
              <c:ext xmlns:c16="http://schemas.microsoft.com/office/drawing/2014/chart" uri="{C3380CC4-5D6E-409C-BE32-E72D297353CC}">
                <c16:uniqueId val="{00000007-F9E8-45D3-8938-0C5F9B7F2968}"/>
              </c:ext>
            </c:extLst>
          </c:dPt>
          <c:dPt>
            <c:idx val="4"/>
            <c:bubble3D val="0"/>
            <c:spPr>
              <a:solidFill>
                <a:srgbClr val="C9E4CE"/>
              </a:solidFill>
            </c:spPr>
            <c:extLst>
              <c:ext xmlns:c16="http://schemas.microsoft.com/office/drawing/2014/chart" uri="{C3380CC4-5D6E-409C-BE32-E72D297353CC}">
                <c16:uniqueId val="{00000009-F9E8-45D3-8938-0C5F9B7F2968}"/>
              </c:ext>
            </c:extLst>
          </c:dPt>
          <c:dLbls>
            <c:spPr>
              <a:noFill/>
              <a:ln>
                <a:noFill/>
              </a:ln>
              <a:effectLst/>
            </c:spPr>
            <c:showLegendKey val="0"/>
            <c:showVal val="0"/>
            <c:showCatName val="0"/>
            <c:showSerName val="0"/>
            <c:showPercent val="1"/>
            <c:showBubbleSize val="1"/>
            <c:showLeaderLines val="1"/>
            <c:extLst>
              <c:ext xmlns:c15="http://schemas.microsoft.com/office/drawing/2012/chart" uri="{CE6537A1-D6FC-4f65-9D91-7224C49458BB}"/>
            </c:extLst>
          </c:dLbls>
          <c:cat>
            <c:strLit>
              <c:ptCount val="5"/>
              <c:pt idx="0">
                <c:v>Phone</c:v>
              </c:pt>
              <c:pt idx="1">
                <c:v>Online</c:v>
              </c:pt>
              <c:pt idx="2">
                <c:v>Distributor</c:v>
              </c:pt>
              <c:pt idx="3">
                <c:v>Email</c:v>
              </c:pt>
              <c:pt idx="4">
                <c:v>Sales Rep</c:v>
              </c:pt>
            </c:strLit>
          </c:cat>
          <c:val>
            <c:numLit>
              <c:formatCode>General</c:formatCode>
              <c:ptCount val="5"/>
              <c:pt idx="0">
                <c:v>4773.3</c:v>
              </c:pt>
              <c:pt idx="1">
                <c:v>2386</c:v>
              </c:pt>
              <c:pt idx="2">
                <c:v>2050.4</c:v>
              </c:pt>
              <c:pt idx="3">
                <c:v>1961</c:v>
              </c:pt>
              <c:pt idx="4">
                <c:v>1789.8</c:v>
              </c:pt>
            </c:numLit>
          </c:val>
          <c:extLst>
            <c:ext xmlns:c16="http://schemas.microsoft.com/office/drawing/2014/chart" uri="{C3380CC4-5D6E-409C-BE32-E72D297353CC}">
              <c16:uniqueId val="{0000000A-F9E8-45D3-8938-0C5F9B7F2968}"/>
            </c:ext>
          </c:extLst>
        </c:ser>
        <c:dLbls>
          <c:showLegendKey val="0"/>
          <c:showVal val="0"/>
          <c:showCatName val="0"/>
          <c:showSerName val="0"/>
          <c:showPercent val="0"/>
          <c:showBubbleSize val="0"/>
          <c:showLeaderLines val="1"/>
        </c:dLbls>
        <c:firstSliceAng val="0"/>
        <c:holeSize val="55"/>
      </c:doughnutChart>
    </c:plotArea>
    <c:legend>
      <c:legendPos val="r"/>
      <c:overlay val="0"/>
      <c:txPr>
        <a:bodyPr/>
        <a:lstStyle/>
        <a:p>
          <a:pPr>
            <a:defRPr sz="1400"/>
          </a:pPr>
          <a:endParaRPr lang="en-US"/>
        </a:p>
      </c:txPr>
    </c:legend>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pPr>
              <a:defRPr sz="1600"/>
            </a:pPr>
            <a:r>
              <a:rPr lang="en-US" sz="1600"/>
              <a:t>Gross Sales by Product Category</a:t>
            </a:r>
          </a:p>
        </c:rich>
      </c:tx>
      <c:overlay val="0"/>
    </c:title>
    <c:autoTitleDeleted val="0"/>
    <c:plotArea>
      <c:layout/>
      <c:barChart>
        <c:barDir val="col"/>
        <c:grouping val="clustered"/>
        <c:varyColors val="1"/>
        <c:ser>
          <c:idx val="0"/>
          <c:order val="0"/>
          <c:tx>
            <c:v>Gross Sales (EUR)</c:v>
          </c:tx>
          <c:invertIfNegative val="1"/>
          <c:dPt>
            <c:idx val="0"/>
            <c:invertIfNegative val="0"/>
            <c:bubble3D val="0"/>
            <c:spPr>
              <a:solidFill>
                <a:srgbClr val="1E7145"/>
              </a:solidFill>
            </c:spPr>
            <c:extLst>
              <c:ext xmlns:c16="http://schemas.microsoft.com/office/drawing/2014/chart" uri="{C3380CC4-5D6E-409C-BE32-E72D297353CC}">
                <c16:uniqueId val="{00000001-BC41-4276-ACD8-7E2CA159C13D}"/>
              </c:ext>
            </c:extLst>
          </c:dPt>
          <c:dPt>
            <c:idx val="1"/>
            <c:invertIfNegative val="0"/>
            <c:bubble3D val="0"/>
            <c:spPr>
              <a:solidFill>
                <a:srgbClr val="4CA771"/>
              </a:solidFill>
            </c:spPr>
            <c:extLst>
              <c:ext xmlns:c16="http://schemas.microsoft.com/office/drawing/2014/chart" uri="{C3380CC4-5D6E-409C-BE32-E72D297353CC}">
                <c16:uniqueId val="{00000003-BC41-4276-ACD8-7E2CA159C13D}"/>
              </c:ext>
            </c:extLst>
          </c:dPt>
          <c:dPt>
            <c:idx val="2"/>
            <c:invertIfNegative val="0"/>
            <c:bubble3D val="0"/>
            <c:spPr>
              <a:solidFill>
                <a:srgbClr val="8FCB9B"/>
              </a:solidFill>
            </c:spPr>
            <c:extLst>
              <c:ext xmlns:c16="http://schemas.microsoft.com/office/drawing/2014/chart" uri="{C3380CC4-5D6E-409C-BE32-E72D297353CC}">
                <c16:uniqueId val="{00000005-BC41-4276-ACD8-7E2CA159C13D}"/>
              </c:ext>
            </c:extLst>
          </c:dPt>
          <c:dPt>
            <c:idx val="3"/>
            <c:invertIfNegative val="0"/>
            <c:bubble3D val="0"/>
            <c:spPr>
              <a:solidFill>
                <a:srgbClr val="2E5B4A"/>
              </a:solidFill>
            </c:spPr>
            <c:extLst>
              <c:ext xmlns:c16="http://schemas.microsoft.com/office/drawing/2014/chart" uri="{C3380CC4-5D6E-409C-BE32-E72D297353CC}">
                <c16:uniqueId val="{00000007-BC41-4276-ACD8-7E2CA159C13D}"/>
              </c:ext>
            </c:extLst>
          </c:dPt>
          <c:dPt>
            <c:idx val="4"/>
            <c:invertIfNegative val="0"/>
            <c:bubble3D val="0"/>
            <c:spPr>
              <a:solidFill>
                <a:srgbClr val="C9E4CE"/>
              </a:solidFill>
            </c:spPr>
            <c:extLst>
              <c:ext xmlns:c16="http://schemas.microsoft.com/office/drawing/2014/chart" uri="{C3380CC4-5D6E-409C-BE32-E72D297353CC}">
                <c16:uniqueId val="{00000009-BC41-4276-ACD8-7E2CA159C13D}"/>
              </c:ext>
            </c:extLst>
          </c:dPt>
          <c:dLbls>
            <c:spPr>
              <a:noFill/>
              <a:ln>
                <a:noFill/>
              </a:ln>
              <a:effectLst/>
            </c:sp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Water</c:v>
              </c:pt>
              <c:pt idx="1">
                <c:v>Juice</c:v>
              </c:pt>
              <c:pt idx="2">
                <c:v>Soft Drink</c:v>
              </c:pt>
              <c:pt idx="3">
                <c:v>Tea</c:v>
              </c:pt>
              <c:pt idx="4">
                <c:v>Energy Drink</c:v>
              </c:pt>
            </c:strLit>
          </c:cat>
          <c:val>
            <c:numLit>
              <c:formatCode>General</c:formatCode>
              <c:ptCount val="5"/>
              <c:pt idx="0">
                <c:v>4496.5</c:v>
              </c:pt>
              <c:pt idx="1">
                <c:v>3052.4</c:v>
              </c:pt>
              <c:pt idx="2">
                <c:v>2336.1999999999998</c:v>
              </c:pt>
              <c:pt idx="3">
                <c:v>1610.4</c:v>
              </c:pt>
              <c:pt idx="4">
                <c:v>1465</c:v>
              </c:pt>
            </c:numLit>
          </c:val>
          <c:extLst>
            <c:ext xmlns:c16="http://schemas.microsoft.com/office/drawing/2014/chart" uri="{C3380CC4-5D6E-409C-BE32-E72D297353CC}">
              <c16:uniqueId val="{0000000A-BC41-4276-ACD8-7E2CA159C13D}"/>
            </c:ext>
          </c:extLst>
        </c:ser>
        <c:dLbls>
          <c:showLegendKey val="0"/>
          <c:showVal val="0"/>
          <c:showCatName val="0"/>
          <c:showSerName val="0"/>
          <c:showPercent val="0"/>
          <c:showBubbleSize val="0"/>
        </c:dLbls>
        <c:gapWidth val="40"/>
        <c:axId val="1"/>
        <c:axId val="2"/>
      </c:barChart>
      <c:catAx>
        <c:axId val="1"/>
        <c:scaling>
          <c:orientation val="minMax"/>
        </c:scaling>
        <c:delete val="0"/>
        <c:axPos val="b"/>
        <c:numFmt formatCode="General" sourceLinked="0"/>
        <c:majorTickMark val="none"/>
        <c:minorTickMark val="none"/>
        <c:tickLblPos val="nextTo"/>
        <c:txPr>
          <a:bodyPr/>
          <a:lstStyle/>
          <a:p>
            <a:pPr>
              <a:defRPr sz="1400"/>
            </a:pPr>
            <a:endParaRPr lang="en-US"/>
          </a:p>
        </c:txPr>
        <c:crossAx val="2"/>
        <c:crosses val="autoZero"/>
        <c:auto val="1"/>
        <c:lblAlgn val="ctr"/>
        <c:lblOffset val="100"/>
        <c:noMultiLvlLbl val="1"/>
      </c:catAx>
      <c:valAx>
        <c:axId val="2"/>
        <c:scaling>
          <c:orientation val="minMax"/>
        </c:scaling>
        <c:delete val="0"/>
        <c:axPos val="l"/>
        <c:numFmt formatCode="General" sourceLinked="1"/>
        <c:majorTickMark val="out"/>
        <c:minorTickMark val="none"/>
        <c:tickLblPos val="nextTo"/>
        <c:txPr>
          <a:bodyPr/>
          <a:lstStyle/>
          <a:p>
            <a:pPr>
              <a:defRPr sz="1400"/>
            </a:pPr>
            <a:endParaRPr lang="en-US"/>
          </a:p>
        </c:txPr>
        <c:crossAx val="1"/>
        <c:crosses val="autoZero"/>
        <c:crossBetween val="between"/>
      </c:valAx>
    </c:plotArea>
    <c:plotVisOnly val="1"/>
    <c:dispBlanksAs val="zero"/>
    <c:showDLblsOverMax val="1"/>
  </c:char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pPr>
              <a:defRPr sz="1500" b="1"/>
            </a:pPr>
            <a:r>
              <a:rPr lang="en-US" sz="1500" b="1"/>
              <a:t>Profit per Product - All 20 SKUs (EUR)</a:t>
            </a:r>
          </a:p>
        </c:rich>
      </c:tx>
      <c:overlay val="0"/>
    </c:title>
    <c:autoTitleDeleted val="0"/>
    <c:plotArea>
      <c:layout/>
      <c:barChart>
        <c:barDir val="bar"/>
        <c:grouping val="clustered"/>
        <c:varyColors val="0"/>
        <c:ser>
          <c:idx val="0"/>
          <c:order val="0"/>
          <c:tx>
            <c:v>Profit (EUR)</c:v>
          </c:tx>
          <c:spPr>
            <a:solidFill>
              <a:srgbClr val="1E7145"/>
            </a:solidFill>
            <a:ln>
              <a:noFill/>
            </a:ln>
          </c:spPr>
          <c:invertIfNegative val="1"/>
          <c:dPt>
            <c:idx val="0"/>
            <c:invertIfNegative val="0"/>
            <c:bubble3D val="0"/>
            <c:extLst>
              <c:ext xmlns:c16="http://schemas.microsoft.com/office/drawing/2014/chart" uri="{C3380CC4-5D6E-409C-BE32-E72D297353CC}">
                <c16:uniqueId val="{00000001-C1C0-4620-8577-6F91A1DB0240}"/>
              </c:ext>
            </c:extLst>
          </c:dPt>
          <c:dPt>
            <c:idx val="1"/>
            <c:invertIfNegative val="0"/>
            <c:bubble3D val="0"/>
            <c:extLst>
              <c:ext xmlns:c16="http://schemas.microsoft.com/office/drawing/2014/chart" uri="{C3380CC4-5D6E-409C-BE32-E72D297353CC}">
                <c16:uniqueId val="{00000003-C1C0-4620-8577-6F91A1DB0240}"/>
              </c:ext>
            </c:extLst>
          </c:dPt>
          <c:dPt>
            <c:idx val="2"/>
            <c:invertIfNegative val="0"/>
            <c:bubble3D val="0"/>
            <c:extLst>
              <c:ext xmlns:c16="http://schemas.microsoft.com/office/drawing/2014/chart" uri="{C3380CC4-5D6E-409C-BE32-E72D297353CC}">
                <c16:uniqueId val="{00000005-C1C0-4620-8577-6F91A1DB0240}"/>
              </c:ext>
            </c:extLst>
          </c:dPt>
          <c:dPt>
            <c:idx val="3"/>
            <c:invertIfNegative val="0"/>
            <c:bubble3D val="0"/>
            <c:extLst>
              <c:ext xmlns:c16="http://schemas.microsoft.com/office/drawing/2014/chart" uri="{C3380CC4-5D6E-409C-BE32-E72D297353CC}">
                <c16:uniqueId val="{00000007-C1C0-4620-8577-6F91A1DB0240}"/>
              </c:ext>
            </c:extLst>
          </c:dPt>
          <c:dPt>
            <c:idx val="4"/>
            <c:invertIfNegative val="0"/>
            <c:bubble3D val="0"/>
            <c:spPr>
              <a:solidFill>
                <a:srgbClr val="8FCB9B"/>
              </a:solidFill>
              <a:ln>
                <a:noFill/>
              </a:ln>
            </c:spPr>
            <c:extLst>
              <c:ext xmlns:c16="http://schemas.microsoft.com/office/drawing/2014/chart" uri="{C3380CC4-5D6E-409C-BE32-E72D297353CC}">
                <c16:uniqueId val="{00000009-C1C0-4620-8577-6F91A1DB0240}"/>
              </c:ext>
            </c:extLst>
          </c:dPt>
          <c:dPt>
            <c:idx val="5"/>
            <c:invertIfNegative val="0"/>
            <c:bubble3D val="0"/>
            <c:spPr>
              <a:solidFill>
                <a:srgbClr val="8FCB9B"/>
              </a:solidFill>
              <a:ln>
                <a:noFill/>
              </a:ln>
            </c:spPr>
            <c:extLst>
              <c:ext xmlns:c16="http://schemas.microsoft.com/office/drawing/2014/chart" uri="{C3380CC4-5D6E-409C-BE32-E72D297353CC}">
                <c16:uniqueId val="{0000000B-C1C0-4620-8577-6F91A1DB0240}"/>
              </c:ext>
            </c:extLst>
          </c:dPt>
          <c:dPt>
            <c:idx val="6"/>
            <c:invertIfNegative val="0"/>
            <c:bubble3D val="0"/>
            <c:spPr>
              <a:solidFill>
                <a:srgbClr val="8FCB9B"/>
              </a:solidFill>
              <a:ln>
                <a:noFill/>
              </a:ln>
            </c:spPr>
            <c:extLst>
              <c:ext xmlns:c16="http://schemas.microsoft.com/office/drawing/2014/chart" uri="{C3380CC4-5D6E-409C-BE32-E72D297353CC}">
                <c16:uniqueId val="{0000000D-C1C0-4620-8577-6F91A1DB0240}"/>
              </c:ext>
            </c:extLst>
          </c:dPt>
          <c:dPt>
            <c:idx val="7"/>
            <c:invertIfNegative val="0"/>
            <c:bubble3D val="0"/>
            <c:spPr>
              <a:solidFill>
                <a:srgbClr val="8FCB9B"/>
              </a:solidFill>
              <a:ln>
                <a:noFill/>
              </a:ln>
            </c:spPr>
            <c:extLst>
              <c:ext xmlns:c16="http://schemas.microsoft.com/office/drawing/2014/chart" uri="{C3380CC4-5D6E-409C-BE32-E72D297353CC}">
                <c16:uniqueId val="{0000000F-C1C0-4620-8577-6F91A1DB0240}"/>
              </c:ext>
            </c:extLst>
          </c:dPt>
          <c:dPt>
            <c:idx val="8"/>
            <c:invertIfNegative val="0"/>
            <c:bubble3D val="0"/>
            <c:spPr>
              <a:solidFill>
                <a:srgbClr val="8FCB9B"/>
              </a:solidFill>
              <a:ln>
                <a:noFill/>
              </a:ln>
            </c:spPr>
            <c:extLst>
              <c:ext xmlns:c16="http://schemas.microsoft.com/office/drawing/2014/chart" uri="{C3380CC4-5D6E-409C-BE32-E72D297353CC}">
                <c16:uniqueId val="{00000011-C1C0-4620-8577-6F91A1DB0240}"/>
              </c:ext>
            </c:extLst>
          </c:dPt>
          <c:dPt>
            <c:idx val="9"/>
            <c:invertIfNegative val="0"/>
            <c:bubble3D val="0"/>
            <c:spPr>
              <a:solidFill>
                <a:srgbClr val="8FCB9B"/>
              </a:solidFill>
              <a:ln>
                <a:noFill/>
              </a:ln>
            </c:spPr>
            <c:extLst>
              <c:ext xmlns:c16="http://schemas.microsoft.com/office/drawing/2014/chart" uri="{C3380CC4-5D6E-409C-BE32-E72D297353CC}">
                <c16:uniqueId val="{00000013-C1C0-4620-8577-6F91A1DB0240}"/>
              </c:ext>
            </c:extLst>
          </c:dPt>
          <c:dPt>
            <c:idx val="10"/>
            <c:invertIfNegative val="0"/>
            <c:bubble3D val="0"/>
            <c:spPr>
              <a:solidFill>
                <a:srgbClr val="8FCB9B"/>
              </a:solidFill>
              <a:ln>
                <a:noFill/>
              </a:ln>
            </c:spPr>
            <c:extLst>
              <c:ext xmlns:c16="http://schemas.microsoft.com/office/drawing/2014/chart" uri="{C3380CC4-5D6E-409C-BE32-E72D297353CC}">
                <c16:uniqueId val="{00000015-C1C0-4620-8577-6F91A1DB0240}"/>
              </c:ext>
            </c:extLst>
          </c:dPt>
          <c:dPt>
            <c:idx val="11"/>
            <c:invertIfNegative val="0"/>
            <c:bubble3D val="0"/>
            <c:spPr>
              <a:solidFill>
                <a:srgbClr val="8FCB9B"/>
              </a:solidFill>
              <a:ln>
                <a:noFill/>
              </a:ln>
            </c:spPr>
            <c:extLst>
              <c:ext xmlns:c16="http://schemas.microsoft.com/office/drawing/2014/chart" uri="{C3380CC4-5D6E-409C-BE32-E72D297353CC}">
                <c16:uniqueId val="{00000017-C1C0-4620-8577-6F91A1DB0240}"/>
              </c:ext>
            </c:extLst>
          </c:dPt>
          <c:dPt>
            <c:idx val="12"/>
            <c:invertIfNegative val="0"/>
            <c:bubble3D val="0"/>
            <c:spPr>
              <a:solidFill>
                <a:srgbClr val="8FCB9B"/>
              </a:solidFill>
              <a:ln>
                <a:noFill/>
              </a:ln>
            </c:spPr>
            <c:extLst>
              <c:ext xmlns:c16="http://schemas.microsoft.com/office/drawing/2014/chart" uri="{C3380CC4-5D6E-409C-BE32-E72D297353CC}">
                <c16:uniqueId val="{00000019-C1C0-4620-8577-6F91A1DB0240}"/>
              </c:ext>
            </c:extLst>
          </c:dPt>
          <c:dPt>
            <c:idx val="13"/>
            <c:invertIfNegative val="0"/>
            <c:bubble3D val="0"/>
            <c:spPr>
              <a:solidFill>
                <a:srgbClr val="8FCB9B"/>
              </a:solidFill>
              <a:ln>
                <a:noFill/>
              </a:ln>
            </c:spPr>
            <c:extLst>
              <c:ext xmlns:c16="http://schemas.microsoft.com/office/drawing/2014/chart" uri="{C3380CC4-5D6E-409C-BE32-E72D297353CC}">
                <c16:uniqueId val="{0000001B-C1C0-4620-8577-6F91A1DB0240}"/>
              </c:ext>
            </c:extLst>
          </c:dPt>
          <c:dPt>
            <c:idx val="14"/>
            <c:invertIfNegative val="0"/>
            <c:bubble3D val="0"/>
            <c:spPr>
              <a:solidFill>
                <a:srgbClr val="8FCB9B"/>
              </a:solidFill>
              <a:ln>
                <a:noFill/>
              </a:ln>
            </c:spPr>
            <c:extLst>
              <c:ext xmlns:c16="http://schemas.microsoft.com/office/drawing/2014/chart" uri="{C3380CC4-5D6E-409C-BE32-E72D297353CC}">
                <c16:uniqueId val="{0000001D-C1C0-4620-8577-6F91A1DB0240}"/>
              </c:ext>
            </c:extLst>
          </c:dPt>
          <c:dPt>
            <c:idx val="15"/>
            <c:invertIfNegative val="0"/>
            <c:bubble3D val="0"/>
            <c:spPr>
              <a:solidFill>
                <a:srgbClr val="8FCB9B"/>
              </a:solidFill>
              <a:ln>
                <a:noFill/>
              </a:ln>
            </c:spPr>
            <c:extLst>
              <c:ext xmlns:c16="http://schemas.microsoft.com/office/drawing/2014/chart" uri="{C3380CC4-5D6E-409C-BE32-E72D297353CC}">
                <c16:uniqueId val="{0000001F-C1C0-4620-8577-6F91A1DB0240}"/>
              </c:ext>
            </c:extLst>
          </c:dPt>
          <c:dPt>
            <c:idx val="16"/>
            <c:invertIfNegative val="0"/>
            <c:bubble3D val="0"/>
            <c:spPr>
              <a:solidFill>
                <a:srgbClr val="C0392B"/>
              </a:solidFill>
              <a:ln>
                <a:noFill/>
              </a:ln>
            </c:spPr>
            <c:extLst>
              <c:ext xmlns:c16="http://schemas.microsoft.com/office/drawing/2014/chart" uri="{C3380CC4-5D6E-409C-BE32-E72D297353CC}">
                <c16:uniqueId val="{00000021-C1C0-4620-8577-6F91A1DB0240}"/>
              </c:ext>
            </c:extLst>
          </c:dPt>
          <c:dPt>
            <c:idx val="17"/>
            <c:invertIfNegative val="0"/>
            <c:bubble3D val="0"/>
            <c:spPr>
              <a:solidFill>
                <a:srgbClr val="C0392B"/>
              </a:solidFill>
              <a:ln>
                <a:noFill/>
              </a:ln>
            </c:spPr>
            <c:extLst>
              <c:ext xmlns:c16="http://schemas.microsoft.com/office/drawing/2014/chart" uri="{C3380CC4-5D6E-409C-BE32-E72D297353CC}">
                <c16:uniqueId val="{00000023-C1C0-4620-8577-6F91A1DB0240}"/>
              </c:ext>
            </c:extLst>
          </c:dPt>
          <c:dPt>
            <c:idx val="18"/>
            <c:invertIfNegative val="0"/>
            <c:bubble3D val="0"/>
            <c:spPr>
              <a:solidFill>
                <a:srgbClr val="C0392B"/>
              </a:solidFill>
              <a:ln>
                <a:noFill/>
              </a:ln>
            </c:spPr>
            <c:extLst>
              <c:ext xmlns:c16="http://schemas.microsoft.com/office/drawing/2014/chart" uri="{C3380CC4-5D6E-409C-BE32-E72D297353CC}">
                <c16:uniqueId val="{00000025-C1C0-4620-8577-6F91A1DB0240}"/>
              </c:ext>
            </c:extLst>
          </c:dPt>
          <c:dPt>
            <c:idx val="19"/>
            <c:invertIfNegative val="0"/>
            <c:bubble3D val="0"/>
            <c:spPr>
              <a:solidFill>
                <a:srgbClr val="C0392B"/>
              </a:solidFill>
              <a:ln>
                <a:noFill/>
              </a:ln>
            </c:spPr>
            <c:extLst>
              <c:ext xmlns:c16="http://schemas.microsoft.com/office/drawing/2014/chart" uri="{C3380CC4-5D6E-409C-BE32-E72D297353CC}">
                <c16:uniqueId val="{00000027-C1C0-4620-8577-6F91A1DB0240}"/>
              </c:ext>
            </c:extLst>
          </c:dPt>
          <c:dLbls>
            <c:numFmt formatCode="&quot;€&quot;#,##0" sourceLinked="0"/>
            <c:spPr>
              <a:noFill/>
              <a:ln>
                <a:noFill/>
              </a:ln>
            </c:spPr>
            <c:txPr>
              <a:bodyPr/>
              <a:lstStyle/>
              <a:p>
                <a:pPr>
                  <a:defRPr sz="900"/>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20"/>
              <c:pt idx="0">
                <c:v>Energy Boost</c:v>
              </c:pt>
              <c:pt idx="1">
                <c:v>Sparkling Citrus</c:v>
              </c:pt>
              <c:pt idx="2">
                <c:v>Vitamin Water</c:v>
              </c:pt>
              <c:pt idx="3">
                <c:v>Iced Tea</c:v>
              </c:pt>
              <c:pt idx="4">
                <c:v>Lemon Lime</c:v>
              </c:pt>
              <c:pt idx="5">
                <c:v>Apple Juice</c:v>
              </c:pt>
              <c:pt idx="6">
                <c:v>Mango Juice</c:v>
              </c:pt>
              <c:pt idx="7">
                <c:v>Peach Tea</c:v>
              </c:pt>
              <c:pt idx="8">
                <c:v>Still Water</c:v>
              </c:pt>
              <c:pt idx="9">
                <c:v>Mineral Water</c:v>
              </c:pt>
              <c:pt idx="10">
                <c:v>Spring Water</c:v>
              </c:pt>
              <c:pt idx="11">
                <c:v>Kids Juice</c:v>
              </c:pt>
              <c:pt idx="12">
                <c:v>Orange Soda</c:v>
              </c:pt>
              <c:pt idx="13">
                <c:v>Berry Splash</c:v>
              </c:pt>
              <c:pt idx="14">
                <c:v>Zero Cola</c:v>
              </c:pt>
              <c:pt idx="15">
                <c:v>Pineapple Juice</c:v>
              </c:pt>
              <c:pt idx="16">
                <c:v>Sparkling Water</c:v>
              </c:pt>
              <c:pt idx="17">
                <c:v>Grape Soda</c:v>
              </c:pt>
              <c:pt idx="18">
                <c:v>Tonic Water</c:v>
              </c:pt>
              <c:pt idx="19">
                <c:v>Cola</c:v>
              </c:pt>
            </c:strLit>
          </c:cat>
          <c:val>
            <c:numLit>
              <c:formatCode>General</c:formatCode>
              <c:ptCount val="20"/>
              <c:pt idx="0">
                <c:v>628.48</c:v>
              </c:pt>
              <c:pt idx="1">
                <c:v>533.91</c:v>
              </c:pt>
              <c:pt idx="2">
                <c:v>398.91</c:v>
              </c:pt>
              <c:pt idx="3">
                <c:v>357.17</c:v>
              </c:pt>
              <c:pt idx="4">
                <c:v>343.25</c:v>
              </c:pt>
              <c:pt idx="5">
                <c:v>342.4</c:v>
              </c:pt>
              <c:pt idx="6">
                <c:v>337.69</c:v>
              </c:pt>
              <c:pt idx="7">
                <c:v>313.45</c:v>
              </c:pt>
              <c:pt idx="8">
                <c:v>288.3</c:v>
              </c:pt>
              <c:pt idx="9">
                <c:v>285.39999999999998</c:v>
              </c:pt>
              <c:pt idx="10">
                <c:v>261.45</c:v>
              </c:pt>
              <c:pt idx="11">
                <c:v>259.60000000000002</c:v>
              </c:pt>
              <c:pt idx="12">
                <c:v>209.99</c:v>
              </c:pt>
              <c:pt idx="13">
                <c:v>208.82</c:v>
              </c:pt>
              <c:pt idx="14">
                <c:v>205.78</c:v>
              </c:pt>
              <c:pt idx="15">
                <c:v>184.59</c:v>
              </c:pt>
              <c:pt idx="16">
                <c:v>164.25</c:v>
              </c:pt>
              <c:pt idx="17">
                <c:v>163.33000000000001</c:v>
              </c:pt>
              <c:pt idx="18">
                <c:v>153.54</c:v>
              </c:pt>
              <c:pt idx="19">
                <c:v>118.83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28-C1C0-4620-8577-6F91A1DB0240}"/>
            </c:ext>
          </c:extLst>
        </c:ser>
        <c:dLbls>
          <c:showLegendKey val="0"/>
          <c:showVal val="0"/>
          <c:showCatName val="0"/>
          <c:showSerName val="0"/>
          <c:showPercent val="0"/>
          <c:showBubbleSize val="1"/>
        </c:dLbls>
        <c:gapWidth val="30"/>
        <c:axId val="1"/>
        <c:axId val="2"/>
      </c:barChart>
      <c:catAx>
        <c:axId val="1"/>
        <c:scaling>
          <c:orientation val="maxMin"/>
        </c:scaling>
        <c:delete val="0"/>
        <c:axPos val="l"/>
        <c:numFmt formatCode="General" sourceLinked="0"/>
        <c:majorTickMark val="none"/>
        <c:minorTickMark val="none"/>
        <c:tickLblPos val="nextTo"/>
        <c:txPr>
          <a:bodyPr/>
          <a:lstStyle/>
          <a:p>
            <a:pPr>
              <a:defRPr sz="900"/>
            </a:pPr>
            <a:endParaRPr lang="en-US"/>
          </a:p>
        </c:txPr>
        <c:crossAx val="2"/>
        <c:crosses val="autoZero"/>
        <c:auto val="1"/>
        <c:lblAlgn val="ctr"/>
        <c:lblOffset val="100"/>
        <c:noMultiLvlLbl val="1"/>
      </c:catAx>
      <c:valAx>
        <c:axId val="2"/>
        <c:scaling>
          <c:orientation val="minMax"/>
        </c:scaling>
        <c:delete val="0"/>
        <c:axPos val="t"/>
        <c:numFmt formatCode="General" sourceLinked="1"/>
        <c:majorTickMark val="out"/>
        <c:minorTickMark val="none"/>
        <c:tickLblPos val="nextTo"/>
        <c:txPr>
          <a:bodyPr/>
          <a:lstStyle/>
          <a:p>
            <a:pPr>
              <a:defRPr sz="1000"/>
            </a:pPr>
            <a:endParaRPr lang="en-US"/>
          </a:p>
        </c:txPr>
        <c:crossAx val="1"/>
        <c:crosses val="autoZero"/>
        <c:crossBetween val="between"/>
      </c:valAx>
    </c:plotArea>
    <c:plotVisOnly val="1"/>
    <c:dispBlanksAs val="zero"/>
    <c:showDLblsOverMax val="1"/>
  </c:char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pPr>
              <a:defRPr sz="1600"/>
            </a:pPr>
            <a:r>
              <a:rPr lang="en-US" sz="1600"/>
              <a:t>Gross Sales by Customer Type</a:t>
            </a:r>
          </a:p>
        </c:rich>
      </c:tx>
      <c:overlay val="0"/>
    </c:title>
    <c:autoTitleDeleted val="0"/>
    <c:plotArea>
      <c:layout/>
      <c:barChart>
        <c:barDir val="col"/>
        <c:grouping val="clustered"/>
        <c:varyColors val="1"/>
        <c:ser>
          <c:idx val="0"/>
          <c:order val="0"/>
          <c:tx>
            <c:v>Gross Sales (EUR)</c:v>
          </c:tx>
          <c:invertIfNegative val="1"/>
          <c:dPt>
            <c:idx val="0"/>
            <c:invertIfNegative val="0"/>
            <c:bubble3D val="0"/>
            <c:spPr>
              <a:solidFill>
                <a:srgbClr val="1E7145"/>
              </a:solidFill>
            </c:spPr>
            <c:extLst>
              <c:ext xmlns:c16="http://schemas.microsoft.com/office/drawing/2014/chart" uri="{C3380CC4-5D6E-409C-BE32-E72D297353CC}">
                <c16:uniqueId val="{00000001-A1AA-483D-98C2-969C93056B10}"/>
              </c:ext>
            </c:extLst>
          </c:dPt>
          <c:dPt>
            <c:idx val="1"/>
            <c:invertIfNegative val="0"/>
            <c:bubble3D val="0"/>
            <c:spPr>
              <a:solidFill>
                <a:srgbClr val="4CA771"/>
              </a:solidFill>
            </c:spPr>
            <c:extLst>
              <c:ext xmlns:c16="http://schemas.microsoft.com/office/drawing/2014/chart" uri="{C3380CC4-5D6E-409C-BE32-E72D297353CC}">
                <c16:uniqueId val="{00000003-A1AA-483D-98C2-969C93056B10}"/>
              </c:ext>
            </c:extLst>
          </c:dPt>
          <c:dPt>
            <c:idx val="2"/>
            <c:invertIfNegative val="0"/>
            <c:bubble3D val="0"/>
            <c:spPr>
              <a:solidFill>
                <a:srgbClr val="4CA771"/>
              </a:solidFill>
            </c:spPr>
            <c:extLst>
              <c:ext xmlns:c16="http://schemas.microsoft.com/office/drawing/2014/chart" uri="{C3380CC4-5D6E-409C-BE32-E72D297353CC}">
                <c16:uniqueId val="{00000005-A1AA-483D-98C2-969C93056B10}"/>
              </c:ext>
            </c:extLst>
          </c:dPt>
          <c:dPt>
            <c:idx val="3"/>
            <c:invertIfNegative val="0"/>
            <c:bubble3D val="0"/>
            <c:spPr>
              <a:solidFill>
                <a:srgbClr val="8FCB9B"/>
              </a:solidFill>
            </c:spPr>
            <c:extLst>
              <c:ext xmlns:c16="http://schemas.microsoft.com/office/drawing/2014/chart" uri="{C3380CC4-5D6E-409C-BE32-E72D297353CC}">
                <c16:uniqueId val="{00000007-A1AA-483D-98C2-969C93056B10}"/>
              </c:ext>
            </c:extLst>
          </c:dPt>
          <c:dPt>
            <c:idx val="4"/>
            <c:invertIfNegative val="0"/>
            <c:bubble3D val="0"/>
            <c:spPr>
              <a:solidFill>
                <a:srgbClr val="8FCB9B"/>
              </a:solidFill>
            </c:spPr>
            <c:extLst>
              <c:ext xmlns:c16="http://schemas.microsoft.com/office/drawing/2014/chart" uri="{C3380CC4-5D6E-409C-BE32-E72D297353CC}">
                <c16:uniqueId val="{00000009-A1AA-483D-98C2-969C93056B10}"/>
              </c:ext>
            </c:extLst>
          </c:dPt>
          <c:dPt>
            <c:idx val="5"/>
            <c:invertIfNegative val="0"/>
            <c:bubble3D val="0"/>
            <c:spPr>
              <a:solidFill>
                <a:srgbClr val="C9E4CE"/>
              </a:solidFill>
            </c:spPr>
            <c:extLst>
              <c:ext xmlns:c16="http://schemas.microsoft.com/office/drawing/2014/chart" uri="{C3380CC4-5D6E-409C-BE32-E72D297353CC}">
                <c16:uniqueId val="{0000000B-A1AA-483D-98C2-969C93056B10}"/>
              </c:ext>
            </c:extLst>
          </c:dPt>
          <c:dLbls>
            <c:spPr>
              <a:noFill/>
              <a:ln>
                <a:noFill/>
              </a:ln>
              <a:effectLst/>
            </c:sp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6"/>
              <c:pt idx="0">
                <c:v>Restaurant</c:v>
              </c:pt>
              <c:pt idx="1">
                <c:v>Wholesaler</c:v>
              </c:pt>
              <c:pt idx="2">
                <c:v>Hotel</c:v>
              </c:pt>
              <c:pt idx="3">
                <c:v>Retailer</c:v>
              </c:pt>
              <c:pt idx="4">
                <c:v>Café</c:v>
              </c:pt>
              <c:pt idx="5">
                <c:v>Supermarket</c:v>
              </c:pt>
            </c:strLit>
          </c:cat>
          <c:val>
            <c:numLit>
              <c:formatCode>General</c:formatCode>
              <c:ptCount val="6"/>
              <c:pt idx="0">
                <c:v>3121</c:v>
              </c:pt>
              <c:pt idx="1">
                <c:v>2413.9</c:v>
              </c:pt>
              <c:pt idx="2">
                <c:v>2348</c:v>
              </c:pt>
              <c:pt idx="3">
                <c:v>2202.9</c:v>
              </c:pt>
              <c:pt idx="4">
                <c:v>2113.9</c:v>
              </c:pt>
              <c:pt idx="5">
                <c:v>760.8</c:v>
              </c:pt>
            </c:numLit>
          </c:val>
          <c:extLst>
            <c:ext xmlns:c16="http://schemas.microsoft.com/office/drawing/2014/chart" uri="{C3380CC4-5D6E-409C-BE32-E72D297353CC}">
              <c16:uniqueId val="{0000000C-A1AA-483D-98C2-969C93056B10}"/>
            </c:ext>
          </c:extLst>
        </c:ser>
        <c:dLbls>
          <c:showLegendKey val="0"/>
          <c:showVal val="0"/>
          <c:showCatName val="0"/>
          <c:showSerName val="0"/>
          <c:showPercent val="0"/>
          <c:showBubbleSize val="0"/>
        </c:dLbls>
        <c:gapWidth val="40"/>
        <c:axId val="1"/>
        <c:axId val="2"/>
      </c:barChart>
      <c:catAx>
        <c:axId val="1"/>
        <c:scaling>
          <c:orientation val="minMax"/>
        </c:scaling>
        <c:delete val="0"/>
        <c:axPos val="b"/>
        <c:numFmt formatCode="General" sourceLinked="0"/>
        <c:majorTickMark val="none"/>
        <c:minorTickMark val="none"/>
        <c:tickLblPos val="nextTo"/>
        <c:txPr>
          <a:bodyPr/>
          <a:lstStyle/>
          <a:p>
            <a:pPr>
              <a:defRPr sz="1400"/>
            </a:pPr>
            <a:endParaRPr lang="en-US"/>
          </a:p>
        </c:txPr>
        <c:crossAx val="2"/>
        <c:crosses val="autoZero"/>
        <c:auto val="1"/>
        <c:lblAlgn val="ctr"/>
        <c:lblOffset val="100"/>
        <c:noMultiLvlLbl val="1"/>
      </c:catAx>
      <c:valAx>
        <c:axId val="2"/>
        <c:scaling>
          <c:orientation val="minMax"/>
        </c:scaling>
        <c:delete val="0"/>
        <c:axPos val="l"/>
        <c:numFmt formatCode="General" sourceLinked="1"/>
        <c:majorTickMark val="out"/>
        <c:minorTickMark val="none"/>
        <c:tickLblPos val="nextTo"/>
        <c:txPr>
          <a:bodyPr/>
          <a:lstStyle/>
          <a:p>
            <a:pPr>
              <a:defRPr sz="1400"/>
            </a:pPr>
            <a:endParaRPr lang="en-US"/>
          </a:p>
        </c:txPr>
        <c:crossAx val="1"/>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EFDCB-4F53-4A64-9BAB-35415D1A6203}" type="datetimeFigureOut">
              <a:rPr lang="en-GB" smtClean="0"/>
              <a:t>04/09/2026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05FEB6-2F87-42D7-9176-9EF380E44308}" type="slidenum">
              <a:rPr lang="en-GB" smtClean="0"/>
              <a:t>‹#›</a:t>
            </a:fld>
            <a:endParaRPr lang="en-GB"/>
          </a:p>
        </p:txBody>
      </p:sp>
    </p:spTree>
    <p:extLst>
      <p:ext uri="{BB962C8B-B14F-4D97-AF65-F5344CB8AC3E}">
        <p14:creationId xmlns:p14="http://schemas.microsoft.com/office/powerpoint/2010/main" val="82546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What I'm presenting today is a full review of Emerald Springs' order and sales activity for June. This came directly out of the raw order, customer, and product data captured every month, cleaned and connected so I can see what's driving the numbers.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Before I could analyse anything, I had a data problem. Dates were stored as serial numbers, text fields were inconsistent, and the three datasets' customers, products, and orders weren't connected. That meant management was flying blind on demand and performance. Step one was fixing that.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Rather than analyse everything, I focused on seven concrete questions management asked. Every slide after this one exists to answer one of these.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This wasn't just a formatting exercise. Getting the dates and text fields clean, and linking all three tables together, is what let us calculate real profit and revenue by customer, product, and channel. Without that step, none of the following slides would be possible.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I kept the KPI list tight on purpose. Every number here rolls up to one thing: is the business making money, and where. Then I broke that down five ways to find out exactly where the money is coming from.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Starting with the headline numbers. Across 250 orders and nearly 7,000 units, the business converted almost 44 cents of every euro sold into profit. And it's not from aggressive discounting discounts account for under 2% of sales. That's a genuinely strong margin position to build growth 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Demand isn't flat across the month. Day 12 alone brought in more than six times what Day 3 did. If these peaks repeat month to month, that's something operations and stock planning should build around, rather than treating every day the same.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Geographically, half of total revenue sits in just five counties, led by Waterford. What stands out is who's missing from that list. Cork and Limerick are two of Ireland's largest cities, and they're near the bottom. That's worth a direct question to the sales team: is that a distribution gap, a competitor issue, or just fewer active accounts there.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Phone orders alone generate more revenue than online and sales rep orders combined. That's the channel doing the heavy lifting right now. Before investing further in digital, the phone channel needs to be protected and properly resourced, since it's carrying more than a third of the business.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Water is the anchor category, which makes sense for a bottling company. But Juice is quietly the second biggest earner, and it's worth asking whether it's getting enough marketing attention relative to how much revenue it's already bringing in.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Here's a finding that wouldn't show up by looking at category totals alone. Energy Drink is the smallest category by revenue, but Energy Boost specifically is the single most profitable product. Same story with Sparkling Citrus. These two deserve premium shelf space and marketing attention on their own merits, not based on how their category looks overall.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Restaurants, hotels, and cafés together make up close to 60% of total revenue. This is fundamentally a hospitality-driven business right now. Supermarket is barely on the board by comparison, and that's either an untapped opportunity or a segment the business isn't built to serve well. That's a decision worth making deliberately.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This slide breaks down how each of the top counties places orders. Louth is fully relationship-driven 100% of its revenue comes through phone, sales rep, and distributor channels, with zero digital activity. Waterford and Wexford look different: Waterford's top channel </a:t>
            </a:r>
            <a:r>
              <a:rPr lang="en-US" sz="1400"/>
              <a:t>is email, </a:t>
            </a:r>
            <a:r>
              <a:rPr lang="en-US" sz="1400" dirty="0"/>
              <a:t>and Wexford splits almost evenly between phone and online. The takeaway is that channel mix isn't uniform across the top counties, so one channel approach shouldn't be assumed to fit all of them. What to do about that is on slide 16.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Put simply, the business is healthy but concentrated. That's not a bad place to be, but it means the next moves should either protect that concentration deliberately or start diversifying it before it becomes a vulnerability.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This is the one-slide summary if you only remember one thing from this deck. Everything that happens next should either lean into the left column or address the right column.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These recommendations come straight from the data, not from a general strategy playbook. Every action here traces back to a specific number covered earlier in this deck.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To close, this isn't a story about a business that's struggling. It's a profitable business with clear patterns in where its strength comes from. The job now is to decide, deliberately, whether to protect that concentration or start diversifying away from it. I'd recommend revisiting this same set of questions next month to see what's changed.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5628-27A5-29A5-48A1-3689FD29AA0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1D8F09D-23FF-3A85-A5A7-4E9528398F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C6297CA-8451-542C-1669-F8970361AEDC}"/>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5" name="Footer Placeholder 4">
            <a:extLst>
              <a:ext uri="{FF2B5EF4-FFF2-40B4-BE49-F238E27FC236}">
                <a16:creationId xmlns:a16="http://schemas.microsoft.com/office/drawing/2014/main" id="{86E2EACF-DFD5-5103-139B-DD97F11A08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CE476C-FB4A-31D5-C8DD-CE4FE492CCAC}"/>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633647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1B2CF-9C33-0F1E-918F-0F4CB607C13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FFB9609-6977-9E2E-11DA-6B52F4E9478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3EC99D5-4168-0804-BEC9-105B39D74543}"/>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5" name="Footer Placeholder 4">
            <a:extLst>
              <a:ext uri="{FF2B5EF4-FFF2-40B4-BE49-F238E27FC236}">
                <a16:creationId xmlns:a16="http://schemas.microsoft.com/office/drawing/2014/main" id="{4C923BEF-0969-52C9-6B51-07D48DBB3B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6B9138-E734-637A-5B85-D66D72640D6E}"/>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2190566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B5743-DBB7-80BD-384B-150BD6B0525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0B0A049-F226-FE47-6F4A-47D8E9D5DE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A0FC55A-AB31-080C-3D0C-4109E15FE8B9}"/>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5" name="Footer Placeholder 4">
            <a:extLst>
              <a:ext uri="{FF2B5EF4-FFF2-40B4-BE49-F238E27FC236}">
                <a16:creationId xmlns:a16="http://schemas.microsoft.com/office/drawing/2014/main" id="{50EB5DF9-3AFD-F1C1-8159-BA689564F0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CF39AB-3B5C-2DAB-7D5D-CFB1B33CC15F}"/>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3305088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95C95-EE05-31C3-EC3C-144982E390F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5414946-FFAB-E0FB-88D7-4648D053EA5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636AA8C2-05A6-E780-B8FE-5EF3E34D424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747BFEC-37E2-6005-7661-CEF44EC0B4BF}"/>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6" name="Footer Placeholder 5">
            <a:extLst>
              <a:ext uri="{FF2B5EF4-FFF2-40B4-BE49-F238E27FC236}">
                <a16:creationId xmlns:a16="http://schemas.microsoft.com/office/drawing/2014/main" id="{868614AA-BB0A-7E1A-390F-000E2AB49A0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6B04DE-D6E2-4B97-D78E-B314058F9D2A}"/>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798323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94A97-82E3-2D88-2B6C-D778AE906422}"/>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3459D29D-8F71-663E-2670-DC456EB0D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0E04A21-8945-1516-92FA-E7A5516120E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C155B68-15A3-3FE1-A8BA-E42C87342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392931F-E991-F92D-3972-2D21BC69897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F3B9BBD2-CC57-441B-AEAF-7C622B91CFFA}"/>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8" name="Footer Placeholder 7">
            <a:extLst>
              <a:ext uri="{FF2B5EF4-FFF2-40B4-BE49-F238E27FC236}">
                <a16:creationId xmlns:a16="http://schemas.microsoft.com/office/drawing/2014/main" id="{040F8AF4-8F40-63E1-A42C-C60D527CDCB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AAB2772-1B47-A82B-AB9A-11780DEDC5C3}"/>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3301026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C2DE-F01A-FC0F-409B-758270E4EE9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D393A4BE-25C3-48FC-4DA0-D45DABB67667}"/>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4" name="Footer Placeholder 3">
            <a:extLst>
              <a:ext uri="{FF2B5EF4-FFF2-40B4-BE49-F238E27FC236}">
                <a16:creationId xmlns:a16="http://schemas.microsoft.com/office/drawing/2014/main" id="{B8685696-3CD7-AEB4-7D0C-FF57C488B14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7973EFA-0800-8A25-4597-FD675D5A20BB}"/>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954033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58CA69-5B54-6DF0-C805-4EED1D8239FA}"/>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3" name="Footer Placeholder 2">
            <a:extLst>
              <a:ext uri="{FF2B5EF4-FFF2-40B4-BE49-F238E27FC236}">
                <a16:creationId xmlns:a16="http://schemas.microsoft.com/office/drawing/2014/main" id="{8586BEAF-E0CC-8F5C-CC2C-41BEFBE21C8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689D88C-931A-2712-326C-71BCF3178D27}"/>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231891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658B-3B5E-7F79-369E-4648B6061C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0FC59FE-445C-817A-A88B-D758EDC46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1C33B63A-65BB-4CC1-654C-C709D38218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94B3D26-612D-A0D7-CF17-09E874EF3CD8}"/>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6" name="Footer Placeholder 5">
            <a:extLst>
              <a:ext uri="{FF2B5EF4-FFF2-40B4-BE49-F238E27FC236}">
                <a16:creationId xmlns:a16="http://schemas.microsoft.com/office/drawing/2014/main" id="{3AA88A8B-5709-EDBC-D143-ACA0895C27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447B2C-0F27-46D6-1DF3-F85B67AB48EA}"/>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296573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C5CF-5A36-A738-7382-730EDF77806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065AD46-0155-4415-AF25-CB8C16A348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A40BBAB-3FBC-1E35-8A51-E0957E07A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560AFB-C663-54A4-D00A-7BBE900FAEC4}"/>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6" name="Footer Placeholder 5">
            <a:extLst>
              <a:ext uri="{FF2B5EF4-FFF2-40B4-BE49-F238E27FC236}">
                <a16:creationId xmlns:a16="http://schemas.microsoft.com/office/drawing/2014/main" id="{937EEA3E-7C22-ABE2-84CC-995221E0FBE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3F48B6-F46A-B0F3-378F-7532204C99E5}"/>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1546919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8C2F1-C099-DD58-AAF2-9E399F65CD60}"/>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7D78557E-F368-009A-0587-B61683AE1FF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2D72921-3792-A1D1-2D9B-98362BD79CA3}"/>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5" name="Footer Placeholder 4">
            <a:extLst>
              <a:ext uri="{FF2B5EF4-FFF2-40B4-BE49-F238E27FC236}">
                <a16:creationId xmlns:a16="http://schemas.microsoft.com/office/drawing/2014/main" id="{49531D71-B7EC-65B1-953D-46FEE35FDB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21EC74-7268-5307-8481-69077FD2BF42}"/>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2224471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47A0E6-CA00-C8BF-F5C6-0DA02B9D068E}"/>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ED25ACC-1284-511C-3C9E-4FAF42352E1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2F26219-807F-D28C-E31C-D4459F874798}"/>
              </a:ext>
            </a:extLst>
          </p:cNvPr>
          <p:cNvSpPr>
            <a:spLocks noGrp="1"/>
          </p:cNvSpPr>
          <p:nvPr>
            <p:ph type="dt" sz="half" idx="10"/>
          </p:nvPr>
        </p:nvSpPr>
        <p:spPr/>
        <p:txBody>
          <a:bodyPr/>
          <a:lstStyle/>
          <a:p>
            <a:fld id="{A16F9E7C-EF0A-4665-BC2A-232717710B74}" type="datetimeFigureOut">
              <a:rPr lang="en-GB" smtClean="0"/>
              <a:t>04/09/2026</a:t>
            </a:fld>
            <a:endParaRPr lang="en-GB"/>
          </a:p>
        </p:txBody>
      </p:sp>
      <p:sp>
        <p:nvSpPr>
          <p:cNvPr id="5" name="Footer Placeholder 4">
            <a:extLst>
              <a:ext uri="{FF2B5EF4-FFF2-40B4-BE49-F238E27FC236}">
                <a16:creationId xmlns:a16="http://schemas.microsoft.com/office/drawing/2014/main" id="{EB1F59EA-2846-687E-145D-61BFC9D380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547AB5-EFF8-876A-0E35-741BBA018BBE}"/>
              </a:ext>
            </a:extLst>
          </p:cNvPr>
          <p:cNvSpPr>
            <a:spLocks noGrp="1"/>
          </p:cNvSpPr>
          <p:nvPr>
            <p:ph type="sldNum" sz="quarter" idx="12"/>
          </p:nvPr>
        </p:nvSpPr>
        <p:spPr/>
        <p:txBody>
          <a:bodyPr/>
          <a:lstStyle/>
          <a:p>
            <a:fld id="{4F6B0A3E-4BE8-4A5F-A583-0BACEDE5BE8C}" type="slidenum">
              <a:rPr lang="en-GB" smtClean="0"/>
              <a:t>‹#›</a:t>
            </a:fld>
            <a:endParaRPr lang="en-GB"/>
          </a:p>
        </p:txBody>
      </p:sp>
    </p:spTree>
    <p:extLst>
      <p:ext uri="{BB962C8B-B14F-4D97-AF65-F5344CB8AC3E}">
        <p14:creationId xmlns:p14="http://schemas.microsoft.com/office/powerpoint/2010/main" val="3413734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846ED5-688B-41C7-4BE8-80F3B3C47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9B0A232-80AC-D30D-D0E8-A933D61DB5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4670E78-F207-1890-8DB5-929C579F48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6F9E7C-EF0A-4665-BC2A-232717710B74}" type="datetimeFigureOut">
              <a:rPr lang="en-GB" smtClean="0"/>
              <a:t>04/09/2026</a:t>
            </a:fld>
            <a:endParaRPr lang="en-GB"/>
          </a:p>
        </p:txBody>
      </p:sp>
      <p:sp>
        <p:nvSpPr>
          <p:cNvPr id="5" name="Footer Placeholder 4">
            <a:extLst>
              <a:ext uri="{FF2B5EF4-FFF2-40B4-BE49-F238E27FC236}">
                <a16:creationId xmlns:a16="http://schemas.microsoft.com/office/drawing/2014/main" id="{9F153210-58C7-EED8-4D6B-FBBF78AE3D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986E3D8-ACDA-6E64-E2C6-E3267EFA7A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6B0A3E-4BE8-4A5F-A583-0BACEDE5BE8C}" type="slidenum">
              <a:rPr lang="en-GB" smtClean="0"/>
              <a:t>‹#›</a:t>
            </a:fld>
            <a:endParaRPr lang="en-GB"/>
          </a:p>
        </p:txBody>
      </p:sp>
      <p:sp>
        <p:nvSpPr>
          <p:cNvPr id="9001" name="DecoBottomBar"/>
          <p:cNvSpPr/>
          <p:nvPr/>
        </p:nvSpPr>
        <p:spPr>
          <a:xfrm>
            <a:off x="0" y="6796725"/>
            <a:ext cx="9144000" cy="91440"/>
          </a:xfrm>
          <a:prstGeom prst="rect">
            <a:avLst/>
          </a:prstGeom>
          <a:solidFill>
            <a:srgbClr val="1E7145"/>
          </a:solidFill>
          <a:ln>
            <a:noFill/>
          </a:ln>
        </p:spPr>
        <p:txBody>
          <a:bodyPr/>
          <a:lstStyle/>
          <a:p>
            <a:endParaRPr/>
          </a:p>
        </p:txBody>
      </p:sp>
      <p:sp>
        <p:nvSpPr>
          <p:cNvPr id="9002" name="DecoCorner"/>
          <p:cNvSpPr/>
          <p:nvPr/>
        </p:nvSpPr>
        <p:spPr>
          <a:xfrm>
            <a:off x="8687000" y="0"/>
            <a:ext cx="457000" cy="457000"/>
          </a:xfrm>
          <a:prstGeom prst="triangle">
            <a:avLst/>
          </a:prstGeom>
          <a:solidFill>
            <a:srgbClr val="8FCB9B"/>
          </a:solidFill>
          <a:ln>
            <a:noFill/>
          </a:ln>
        </p:spPr>
        <p:txBody>
          <a:bodyPr/>
          <a:lstStyle/>
          <a:p>
            <a:endParaRPr/>
          </a:p>
        </p:txBody>
      </p:sp>
    </p:spTree>
    <p:extLst>
      <p:ext uri="{BB962C8B-B14F-4D97-AF65-F5344CB8AC3E}">
        <p14:creationId xmlns:p14="http://schemas.microsoft.com/office/powerpoint/2010/main" val="2350079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B3B2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3B2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E88F7-7A11-640F-A575-B866169B798F}"/>
              </a:ext>
            </a:extLst>
          </p:cNvPr>
          <p:cNvSpPr>
            <a:spLocks noGrp="1"/>
          </p:cNvSpPr>
          <p:nvPr>
            <p:ph type="ctrTitle"/>
          </p:nvPr>
        </p:nvSpPr>
        <p:spPr/>
        <p:txBody>
          <a:bodyPr/>
          <a:lstStyle/>
          <a:p>
            <a:pPr algn="ctr">
              <a:buNone/>
            </a:pPr>
            <a:r>
              <a:rPr lang="en-US" sz="4000" b="1" dirty="0">
                <a:solidFill>
                  <a:srgbClr val="1E7145"/>
                </a:solidFill>
              </a:rPr>
              <a:t>Emerald Springs Bottling Ltd</a:t>
            </a:r>
          </a:p>
        </p:txBody>
      </p:sp>
      <p:sp>
        <p:nvSpPr>
          <p:cNvPr id="3" name="Subtitle 2">
            <a:extLst>
              <a:ext uri="{FF2B5EF4-FFF2-40B4-BE49-F238E27FC236}">
                <a16:creationId xmlns:a16="http://schemas.microsoft.com/office/drawing/2014/main" id="{B5DE6B21-6692-1E85-61A5-24D620B52048}"/>
              </a:ext>
            </a:extLst>
          </p:cNvPr>
          <p:cNvSpPr>
            <a:spLocks noGrp="1"/>
          </p:cNvSpPr>
          <p:nvPr>
            <p:ph type="subTitle" idx="1"/>
          </p:nvPr>
        </p:nvSpPr>
        <p:spPr/>
        <p:txBody>
          <a:bodyPr>
            <a:normAutofit/>
          </a:bodyPr>
          <a:lstStyle/>
          <a:p>
            <a:pPr algn="ctr">
              <a:buNone/>
            </a:pPr>
            <a:r>
              <a:rPr lang="en-US" sz="2400" b="1" dirty="0">
                <a:solidFill>
                  <a:srgbClr val="2E5B4A"/>
                </a:solidFill>
              </a:rPr>
              <a:t>June 2026 Sales &amp; Order Review</a:t>
            </a:r>
          </a:p>
          <a:p>
            <a:pPr algn="ctr">
              <a:buNone/>
            </a:pPr>
            <a:r>
              <a:rPr lang="en-US" sz="1800" dirty="0">
                <a:solidFill>
                  <a:srgbClr val="1B3B2F"/>
                </a:solidFill>
              </a:rPr>
              <a:t>Monthly Sales and Order Analytics</a:t>
            </a:r>
          </a:p>
          <a:p>
            <a:pPr algn="ctr">
              <a:buNone/>
            </a:pPr>
            <a:r>
              <a:rPr lang="en-US" sz="1600" dirty="0">
                <a:solidFill>
                  <a:srgbClr val="1B3B2F"/>
                </a:solidFill>
              </a:rPr>
              <a:t>Prepared by Marvellous Umeilechukwu</a:t>
            </a:r>
          </a:p>
          <a:p>
            <a:pPr algn="ctr">
              <a:buNone/>
            </a:pPr>
            <a:r>
              <a:rPr lang="en-US" sz="1600" dirty="0">
                <a:solidFill>
                  <a:srgbClr val="1B3B2F"/>
                </a:solidFill>
              </a:rPr>
              <a:t>Period Covered: June 2026</a:t>
            </a:r>
          </a:p>
        </p:txBody>
      </p:sp>
    </p:spTree>
    <p:extLst>
      <p:ext uri="{BB962C8B-B14F-4D97-AF65-F5344CB8AC3E}">
        <p14:creationId xmlns:p14="http://schemas.microsoft.com/office/powerpoint/2010/main" val="4192549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A18D3-875C-4741-CFE6-C67C3B810C44}"/>
              </a:ext>
            </a:extLst>
          </p:cNvPr>
          <p:cNvSpPr>
            <a:spLocks noGrp="1"/>
          </p:cNvSpPr>
          <p:nvPr>
            <p:ph type="title"/>
          </p:nvPr>
        </p:nvSpPr>
        <p:spPr/>
        <p:txBody>
          <a:bodyPr/>
          <a:lstStyle/>
          <a:p>
            <a:r>
              <a:rPr lang="en-GB" dirty="0"/>
              <a:t>Why I Needed This Review</a:t>
            </a:r>
          </a:p>
        </p:txBody>
      </p:sp>
      <p:sp>
        <p:nvSpPr>
          <p:cNvPr id="3" name="Content Placeholder 2">
            <a:extLst>
              <a:ext uri="{FF2B5EF4-FFF2-40B4-BE49-F238E27FC236}">
                <a16:creationId xmlns:a16="http://schemas.microsoft.com/office/drawing/2014/main" id="{9C977BFC-C589-AB8F-5645-E431643C6018}"/>
              </a:ext>
            </a:extLst>
          </p:cNvPr>
          <p:cNvSpPr>
            <a:spLocks noGrp="1"/>
          </p:cNvSpPr>
          <p:nvPr>
            <p:ph idx="1"/>
          </p:nvPr>
        </p:nvSpPr>
        <p:spPr/>
        <p:txBody>
          <a:bodyPr/>
          <a:lstStyle/>
          <a:p>
            <a:pPr marL="228600" indent="-228600">
              <a:buFont typeface="Arial"/>
              <a:buChar char="•"/>
            </a:pPr>
            <a:r>
              <a:rPr lang="en-US" sz="1800" dirty="0"/>
              <a:t>Emerald Springs sells bottled water, soft drinks, juice, and energy drinks to retailers, wholesalers, cafés, restaurants, hotels, and supermarkets across Ireland.</a:t>
            </a:r>
          </a:p>
          <a:p>
            <a:pPr marL="228600" indent="-228600">
              <a:buFont typeface="Arial"/>
              <a:buChar char="•"/>
            </a:pPr>
            <a:r>
              <a:rPr lang="en-US" sz="1800" dirty="0"/>
              <a:t>Orders come in through five channels: phone, online, email, sales reps, and distributors.</a:t>
            </a:r>
          </a:p>
          <a:p>
            <a:pPr marL="228600" indent="-228600">
              <a:buFont typeface="Arial"/>
              <a:buChar char="•"/>
            </a:pPr>
            <a:r>
              <a:rPr lang="en-US" sz="1800" dirty="0"/>
              <a:t>The raw data had inconsistent text entries and dates stored as serial numbers instead of readable dates nobody could reliably answer basic questions like “which products are selling” or “which customers are buying.”</a:t>
            </a:r>
          </a:p>
        </p:txBody>
      </p:sp>
      <p:sp>
        <p:nvSpPr>
          <p:cNvPr id="101" name="BeforeBox"/>
          <p:cNvSpPr/>
          <p:nvPr/>
        </p:nvSpPr>
        <p:spPr>
          <a:xfrm>
            <a:off x="533400" y="4200525"/>
            <a:ext cx="3886200" cy="838200"/>
          </a:xfrm>
          <a:prstGeom prst="roundRect">
            <a:avLst/>
          </a:prstGeom>
          <a:solidFill>
            <a:srgbClr val="F3F8F4"/>
          </a:solidFill>
          <a:ln>
            <a:solidFill>
              <a:srgbClr val="8FCB9B"/>
            </a:solidFill>
          </a:ln>
        </p:spPr>
        <p:txBody>
          <a:bodyPr wrap="square" anchor="ctr">
            <a:normAutofit/>
          </a:bodyPr>
          <a:lstStyle/>
          <a:p>
            <a:pPr algn="ctr"/>
            <a:r>
              <a:rPr lang="en-US" sz="1600" b="1" dirty="0">
                <a:solidFill>
                  <a:srgbClr val="2E5B4A"/>
                </a:solidFill>
              </a:rPr>
              <a:t>BEFORE: Inconsistent, disconnected data</a:t>
            </a:r>
          </a:p>
        </p:txBody>
      </p:sp>
      <p:sp>
        <p:nvSpPr>
          <p:cNvPr id="102" name="AfterBox"/>
          <p:cNvSpPr/>
          <p:nvPr/>
        </p:nvSpPr>
        <p:spPr>
          <a:xfrm>
            <a:off x="4724400" y="4200525"/>
            <a:ext cx="3886200" cy="838200"/>
          </a:xfrm>
          <a:prstGeom prst="roundRect">
            <a:avLst/>
          </a:prstGeom>
          <a:solidFill>
            <a:srgbClr val="1E7145"/>
          </a:solidFill>
          <a:ln>
            <a:noFill/>
          </a:ln>
        </p:spPr>
        <p:txBody>
          <a:bodyPr wrap="square" anchor="ctr">
            <a:normAutofit/>
          </a:bodyPr>
          <a:lstStyle/>
          <a:p>
            <a:pPr algn="ctr"/>
            <a:r>
              <a:rPr lang="en-US" sz="1600" b="1" dirty="0">
                <a:solidFill>
                  <a:srgbClr val="FFFFFF"/>
                </a:solidFill>
              </a:rPr>
              <a:t>AFTER: Clean, connected, reliable</a:t>
            </a:r>
          </a:p>
        </p:txBody>
      </p:sp>
    </p:spTree>
    <p:extLst>
      <p:ext uri="{BB962C8B-B14F-4D97-AF65-F5344CB8AC3E}">
        <p14:creationId xmlns:p14="http://schemas.microsoft.com/office/powerpoint/2010/main" val="688805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4249-53DF-2D3C-EC0C-26266FE0D8B6}"/>
              </a:ext>
            </a:extLst>
          </p:cNvPr>
          <p:cNvSpPr>
            <a:spLocks noGrp="1"/>
          </p:cNvSpPr>
          <p:nvPr>
            <p:ph type="title"/>
          </p:nvPr>
        </p:nvSpPr>
        <p:spPr/>
        <p:txBody>
          <a:bodyPr/>
          <a:lstStyle/>
          <a:p>
            <a:r>
              <a:rPr lang="en-GB"/>
              <a:t>What I Set Out to Answer</a:t>
            </a:r>
          </a:p>
        </p:txBody>
      </p:sp>
      <p:sp>
        <p:nvSpPr>
          <p:cNvPr id="3" name="Content Placeholder 2">
            <a:extLst>
              <a:ext uri="{FF2B5EF4-FFF2-40B4-BE49-F238E27FC236}">
                <a16:creationId xmlns:a16="http://schemas.microsoft.com/office/drawing/2014/main" id="{08093DBD-1BF2-CCE3-5286-590B5EB87AEE}"/>
              </a:ext>
            </a:extLst>
          </p:cNvPr>
          <p:cNvSpPr>
            <a:spLocks noGrp="1"/>
          </p:cNvSpPr>
          <p:nvPr>
            <p:ph idx="1"/>
          </p:nvPr>
        </p:nvSpPr>
        <p:spPr/>
        <p:txBody>
          <a:bodyPr/>
          <a:lstStyle/>
          <a:p>
            <a:pPr marL="457200" indent="-457200">
              <a:buFont typeface="Arial"/>
              <a:buAutoNum type="arabicPeriod"/>
            </a:pPr>
            <a:r>
              <a:rPr lang="en-US" sz="1800" dirty="0"/>
              <a:t>What do the core metrics reveal about overall business health?</a:t>
            </a:r>
          </a:p>
          <a:p>
            <a:pPr marL="457200" indent="-457200">
              <a:buFont typeface="Arial"/>
              <a:buAutoNum type="arabicPeriod"/>
            </a:pPr>
            <a:r>
              <a:rPr lang="en-US" sz="1800" dirty="0"/>
              <a:t>What is the daily revenue trend, and which days peaked?</a:t>
            </a:r>
          </a:p>
          <a:p>
            <a:pPr marL="457200" indent="-457200">
              <a:buFont typeface="Arial"/>
              <a:buAutoNum type="arabicPeriod"/>
            </a:pPr>
            <a:r>
              <a:rPr lang="en-US" sz="1800" dirty="0"/>
              <a:t>Which county drives the highest revenue?</a:t>
            </a:r>
          </a:p>
          <a:p>
            <a:pPr marL="457200" indent="-457200">
              <a:buFont typeface="Arial"/>
              <a:buAutoNum type="arabicPeriod"/>
            </a:pPr>
            <a:r>
              <a:rPr lang="en-US" sz="1800" dirty="0"/>
              <a:t>Which sales channel generates the most revenue?</a:t>
            </a:r>
          </a:p>
          <a:p>
            <a:pPr marL="457200" indent="-457200">
              <a:buFont typeface="Arial"/>
              <a:buAutoNum type="arabicPeriod"/>
            </a:pPr>
            <a:r>
              <a:rPr lang="en-US" sz="1800" dirty="0"/>
              <a:t>Which product category contributes the most to revenue?</a:t>
            </a:r>
          </a:p>
          <a:p>
            <a:pPr marL="457200" indent="-457200">
              <a:buFont typeface="Arial"/>
              <a:buAutoNum type="arabicPeriod"/>
            </a:pPr>
            <a:r>
              <a:rPr lang="en-US" sz="1800" dirty="0"/>
              <a:t>What is the cost price and resulting profit per product?</a:t>
            </a:r>
          </a:p>
          <a:p>
            <a:pPr marL="457200" indent="-457200">
              <a:buFont typeface="Arial"/>
              <a:buAutoNum type="arabicPeriod"/>
            </a:pPr>
            <a:r>
              <a:rPr lang="en-US" sz="1800" dirty="0"/>
              <a:t>How does revenue break down by customer type?</a:t>
            </a:r>
          </a:p>
        </p:txBody>
      </p:sp>
    </p:spTree>
    <p:extLst>
      <p:ext uri="{BB962C8B-B14F-4D97-AF65-F5344CB8AC3E}">
        <p14:creationId xmlns:p14="http://schemas.microsoft.com/office/powerpoint/2010/main" val="344246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3B5FF-ED7A-F4BE-DFF8-AD7A46F2B9EA}"/>
              </a:ext>
            </a:extLst>
          </p:cNvPr>
          <p:cNvSpPr>
            <a:spLocks noGrp="1"/>
          </p:cNvSpPr>
          <p:nvPr>
            <p:ph type="title"/>
          </p:nvPr>
        </p:nvSpPr>
        <p:spPr/>
        <p:txBody>
          <a:bodyPr/>
          <a:lstStyle/>
          <a:p>
            <a:r>
              <a:rPr lang="en-GB"/>
              <a:t>From Raw Data to Reliable Numbers</a:t>
            </a:r>
          </a:p>
        </p:txBody>
      </p:sp>
      <p:sp>
        <p:nvSpPr>
          <p:cNvPr id="3" name="Content Placeholder 2">
            <a:extLst>
              <a:ext uri="{FF2B5EF4-FFF2-40B4-BE49-F238E27FC236}">
                <a16:creationId xmlns:a16="http://schemas.microsoft.com/office/drawing/2014/main" id="{D2B1CD31-AFAA-EB58-3F00-791138D1763E}"/>
              </a:ext>
            </a:extLst>
          </p:cNvPr>
          <p:cNvSpPr>
            <a:spLocks noGrp="1"/>
          </p:cNvSpPr>
          <p:nvPr>
            <p:ph idx="1"/>
          </p:nvPr>
        </p:nvSpPr>
        <p:spPr>
          <a:xfrm>
            <a:off x="762000" y="1625600"/>
            <a:ext cx="10668000" cy="2133600"/>
          </a:xfrm>
        </p:spPr>
        <p:txBody>
          <a:bodyPr/>
          <a:lstStyle/>
          <a:p>
            <a:pPr marL="228600" indent="-228600">
              <a:buFont typeface="Arial"/>
              <a:buChar char="•"/>
            </a:pPr>
            <a:r>
              <a:rPr lang="en-US" sz="1600" dirty="0"/>
              <a:t>Three source tables: Customers (100 accounts), Products (20 SKUs), Orders (250 order lines).</a:t>
            </a:r>
          </a:p>
          <a:p>
            <a:pPr marL="228600" indent="-228600">
              <a:buFont typeface="Arial"/>
              <a:buChar char="•"/>
            </a:pPr>
            <a:r>
              <a:rPr lang="en-US" sz="1600" dirty="0"/>
              <a:t>Cleaned inconsistent text fields and converted order dates from serial number format to standard dates.</a:t>
            </a:r>
          </a:p>
          <a:p>
            <a:pPr marL="228600" indent="-228600">
              <a:buFont typeface="Arial"/>
              <a:buChar char="•"/>
            </a:pPr>
            <a:r>
              <a:rPr lang="en-US" sz="1600" dirty="0"/>
              <a:t>Connected the three tables using Customer_ID and </a:t>
            </a:r>
            <a:r>
              <a:rPr lang="en-US" sz="1600" dirty="0" err="1"/>
              <a:t>Product_ID</a:t>
            </a:r>
            <a:r>
              <a:rPr lang="en-US" sz="1600" dirty="0"/>
              <a:t> lookups every order line carries the customer's county, type, and preferred channel, plus the product's category, bottle size, unit price, and cost price.</a:t>
            </a:r>
          </a:p>
          <a:p>
            <a:pPr marL="228600" indent="-228600">
              <a:buFont typeface="Arial"/>
              <a:buChar char="•"/>
            </a:pPr>
            <a:r>
              <a:rPr lang="en-US" sz="1600" dirty="0"/>
              <a:t>Calculated commercial metrics at the line level: gross sales, total cost, discount, and profit.</a:t>
            </a:r>
          </a:p>
        </p:txBody>
      </p:sp>
      <p:sp>
        <p:nvSpPr>
          <p:cNvPr id="201" name="CustomersBox"/>
          <p:cNvSpPr/>
          <p:nvPr/>
        </p:nvSpPr>
        <p:spPr>
          <a:xfrm>
            <a:off x="762000" y="4191000"/>
            <a:ext cx="2667000" cy="1397000"/>
          </a:xfrm>
          <a:prstGeom prst="roundRect">
            <a:avLst/>
          </a:prstGeom>
          <a:solidFill>
            <a:srgbClr val="EAF3EC"/>
          </a:solidFill>
          <a:ln>
            <a:noFill/>
          </a:ln>
        </p:spPr>
        <p:txBody>
          <a:bodyPr wrap="square" anchor="ctr"/>
          <a:lstStyle/>
          <a:p>
            <a:pPr algn="ctr"/>
            <a:r>
              <a:rPr lang="en-US" sz="1500" b="1" dirty="0">
                <a:solidFill>
                  <a:srgbClr val="1B3B2F"/>
                </a:solidFill>
              </a:rPr>
              <a:t>Customers
100 accounts</a:t>
            </a:r>
          </a:p>
        </p:txBody>
      </p:sp>
      <p:sp>
        <p:nvSpPr>
          <p:cNvPr id="202" name="Arrow1"/>
          <p:cNvSpPr/>
          <p:nvPr/>
        </p:nvSpPr>
        <p:spPr>
          <a:xfrm>
            <a:off x="3556000" y="4635500"/>
            <a:ext cx="508000" cy="508000"/>
          </a:xfrm>
          <a:prstGeom prst="rightArrow">
            <a:avLst/>
          </a:prstGeom>
          <a:solidFill>
            <a:srgbClr val="8FCB9B"/>
          </a:solidFill>
          <a:ln>
            <a:noFill/>
          </a:ln>
        </p:spPr>
        <p:txBody>
          <a:bodyPr/>
          <a:lstStyle/>
          <a:p>
            <a:endParaRPr/>
          </a:p>
        </p:txBody>
      </p:sp>
      <p:sp>
        <p:nvSpPr>
          <p:cNvPr id="203" name="ProductsBox"/>
          <p:cNvSpPr/>
          <p:nvPr/>
        </p:nvSpPr>
        <p:spPr>
          <a:xfrm>
            <a:off x="4191000" y="4191000"/>
            <a:ext cx="2667000" cy="1397000"/>
          </a:xfrm>
          <a:prstGeom prst="roundRect">
            <a:avLst/>
          </a:prstGeom>
          <a:solidFill>
            <a:srgbClr val="EAF3EC"/>
          </a:solidFill>
          <a:ln>
            <a:noFill/>
          </a:ln>
        </p:spPr>
        <p:txBody>
          <a:bodyPr wrap="square" anchor="ctr"/>
          <a:lstStyle/>
          <a:p>
            <a:pPr algn="ctr"/>
            <a:r>
              <a:rPr lang="en-US" sz="1500" b="1" dirty="0">
                <a:solidFill>
                  <a:srgbClr val="1B3B2F"/>
                </a:solidFill>
              </a:rPr>
              <a:t>Products
20 SKUs</a:t>
            </a:r>
          </a:p>
        </p:txBody>
      </p:sp>
      <p:sp>
        <p:nvSpPr>
          <p:cNvPr id="204" name="Arrow2"/>
          <p:cNvSpPr/>
          <p:nvPr/>
        </p:nvSpPr>
        <p:spPr>
          <a:xfrm>
            <a:off x="6985000" y="4635500"/>
            <a:ext cx="508000" cy="508000"/>
          </a:xfrm>
          <a:prstGeom prst="rightArrow">
            <a:avLst/>
          </a:prstGeom>
          <a:solidFill>
            <a:srgbClr val="8FCB9B"/>
          </a:solidFill>
          <a:ln>
            <a:noFill/>
          </a:ln>
        </p:spPr>
        <p:txBody>
          <a:bodyPr/>
          <a:lstStyle/>
          <a:p>
            <a:endParaRPr/>
          </a:p>
        </p:txBody>
      </p:sp>
      <p:sp>
        <p:nvSpPr>
          <p:cNvPr id="205" name="OrdersBox"/>
          <p:cNvSpPr/>
          <p:nvPr/>
        </p:nvSpPr>
        <p:spPr>
          <a:xfrm>
            <a:off x="7620000" y="4064000"/>
            <a:ext cx="3810000" cy="1651000"/>
          </a:xfrm>
          <a:prstGeom prst="roundRect">
            <a:avLst/>
          </a:prstGeom>
          <a:solidFill>
            <a:srgbClr val="1E7145"/>
          </a:solidFill>
          <a:ln>
            <a:noFill/>
          </a:ln>
        </p:spPr>
        <p:txBody>
          <a:bodyPr wrap="square" anchor="ctr"/>
          <a:lstStyle/>
          <a:p>
            <a:pPr algn="ctr"/>
            <a:r>
              <a:rPr lang="en-US" sz="1500" b="1" dirty="0">
                <a:solidFill>
                  <a:srgbClr val="FFFFFF"/>
                </a:solidFill>
              </a:rPr>
              <a:t>Connected Orders Table
250 order lines with full
customer + product context</a:t>
            </a:r>
          </a:p>
        </p:txBody>
      </p:sp>
    </p:spTree>
    <p:extLst>
      <p:ext uri="{BB962C8B-B14F-4D97-AF65-F5344CB8AC3E}">
        <p14:creationId xmlns:p14="http://schemas.microsoft.com/office/powerpoint/2010/main" val="2085260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331C-3D13-5609-88B4-6F573CDD4522}"/>
              </a:ext>
            </a:extLst>
          </p:cNvPr>
          <p:cNvSpPr>
            <a:spLocks noGrp="1"/>
          </p:cNvSpPr>
          <p:nvPr>
            <p:ph type="title"/>
          </p:nvPr>
        </p:nvSpPr>
        <p:spPr/>
        <p:txBody>
          <a:bodyPr/>
          <a:lstStyle/>
          <a:p>
            <a:r>
              <a:rPr lang="en-GB"/>
              <a:t>How I Measured Performance</a:t>
            </a:r>
          </a:p>
        </p:txBody>
      </p:sp>
      <p:sp>
        <p:nvSpPr>
          <p:cNvPr id="3" name="Content Placeholder 2">
            <a:extLst>
              <a:ext uri="{FF2B5EF4-FFF2-40B4-BE49-F238E27FC236}">
                <a16:creationId xmlns:a16="http://schemas.microsoft.com/office/drawing/2014/main" id="{BFCD3C6E-CCBA-FAE3-9B16-FD3429CF45F9}"/>
              </a:ext>
            </a:extLst>
          </p:cNvPr>
          <p:cNvSpPr>
            <a:spLocks noGrp="1"/>
          </p:cNvSpPr>
          <p:nvPr>
            <p:ph idx="1"/>
          </p:nvPr>
        </p:nvSpPr>
        <p:spPr>
          <a:xfrm>
            <a:off x="762000" y="1625600"/>
            <a:ext cx="10668000" cy="2984500"/>
          </a:xfrm>
        </p:spPr>
        <p:txBody>
          <a:bodyPr/>
          <a:lstStyle/>
          <a:p>
            <a:pPr marL="228600" indent="-228600">
              <a:buFont typeface="Arial"/>
              <a:buChar char="•"/>
            </a:pPr>
            <a:r>
              <a:rPr lang="en-US" sz="1500" b="1" dirty="0"/>
              <a:t>Gross Sales:</a:t>
            </a:r>
            <a:r>
              <a:rPr lang="en-US" sz="1500" dirty="0"/>
              <a:t> total revenue before cost and discount.</a:t>
            </a:r>
          </a:p>
          <a:p>
            <a:pPr marL="228600" indent="-228600">
              <a:buFont typeface="Arial"/>
              <a:buChar char="•"/>
            </a:pPr>
            <a:r>
              <a:rPr lang="en-US" sz="1500" b="1" dirty="0"/>
              <a:t>Total Cost:</a:t>
            </a:r>
            <a:r>
              <a:rPr lang="en-US" sz="1500" dirty="0"/>
              <a:t> cost price times quantity across all orders.</a:t>
            </a:r>
          </a:p>
          <a:p>
            <a:pPr marL="228600" indent="-228600">
              <a:buFont typeface="Arial"/>
              <a:buChar char="•"/>
            </a:pPr>
            <a:r>
              <a:rPr lang="en-US" sz="1500" b="1" dirty="0"/>
              <a:t>Total Discount:</a:t>
            </a:r>
            <a:r>
              <a:rPr lang="en-US" sz="1500" dirty="0"/>
              <a:t> value given away through discounting.</a:t>
            </a:r>
          </a:p>
          <a:p>
            <a:pPr marL="228600" indent="-228600">
              <a:buFont typeface="Arial"/>
              <a:buChar char="•"/>
            </a:pPr>
            <a:r>
              <a:rPr lang="en-US" sz="1500" b="1" dirty="0"/>
              <a:t>Net Sales / Profit:</a:t>
            </a:r>
            <a:r>
              <a:rPr lang="en-US" sz="1500" dirty="0"/>
              <a:t> gross sales minus cost minus discount.</a:t>
            </a:r>
          </a:p>
          <a:p>
            <a:pPr marL="228600" indent="-228600">
              <a:buFont typeface="Arial"/>
              <a:buChar char="•"/>
            </a:pPr>
            <a:r>
              <a:rPr lang="en-US" sz="1500" b="1" dirty="0"/>
              <a:t>Profit Margin:</a:t>
            </a:r>
            <a:r>
              <a:rPr lang="en-US" sz="1500" dirty="0"/>
              <a:t> profit as a percentage of gross sales.</a:t>
            </a:r>
          </a:p>
          <a:p>
            <a:pPr marL="228600" indent="-228600">
              <a:buFont typeface="Arial"/>
              <a:buChar char="•"/>
            </a:pPr>
            <a:r>
              <a:rPr lang="en-US" sz="1500" dirty="0"/>
              <a:t>Segmented every metric across five dimensions: time (day), county, channel, category, and customer type.</a:t>
            </a:r>
          </a:p>
        </p:txBody>
      </p:sp>
      <p:sp>
        <p:nvSpPr>
          <p:cNvPr id="301" name="FormulaBox"/>
          <p:cNvSpPr/>
          <p:nvPr/>
        </p:nvSpPr>
        <p:spPr>
          <a:xfrm>
            <a:off x="1143000" y="4953000"/>
            <a:ext cx="9906000" cy="1143000"/>
          </a:xfrm>
          <a:prstGeom prst="roundRect">
            <a:avLst/>
          </a:prstGeom>
          <a:solidFill>
            <a:srgbClr val="1E7145"/>
          </a:solidFill>
          <a:ln>
            <a:noFill/>
          </a:ln>
        </p:spPr>
        <p:txBody>
          <a:bodyPr wrap="square" anchor="ctr"/>
          <a:lstStyle/>
          <a:p>
            <a:pPr algn="ctr"/>
            <a:r>
              <a:rPr lang="en-US" sz="2000" b="1" dirty="0">
                <a:solidFill>
                  <a:srgbClr val="FFFFFF"/>
                </a:solidFill>
              </a:rPr>
              <a:t>Gross Sales − Total Cost − Discount = Profit</a:t>
            </a:r>
          </a:p>
        </p:txBody>
      </p:sp>
    </p:spTree>
    <p:extLst>
      <p:ext uri="{BB962C8B-B14F-4D97-AF65-F5344CB8AC3E}">
        <p14:creationId xmlns:p14="http://schemas.microsoft.com/office/powerpoint/2010/main" val="4284875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6566-FC6D-7B32-DCDE-0855745D0C52}"/>
              </a:ext>
            </a:extLst>
          </p:cNvPr>
          <p:cNvSpPr>
            <a:spLocks noGrp="1"/>
          </p:cNvSpPr>
          <p:nvPr>
            <p:ph type="title"/>
          </p:nvPr>
        </p:nvSpPr>
        <p:spPr/>
        <p:txBody>
          <a:bodyPr/>
          <a:lstStyle/>
          <a:p>
            <a:r>
              <a:rPr lang="en-GB"/>
              <a:t>The Business in Numbers</a:t>
            </a:r>
          </a:p>
        </p:txBody>
      </p:sp>
      <p:sp>
        <p:nvSpPr>
          <p:cNvPr id="401" name="KPI401"/>
          <p:cNvSpPr/>
          <p:nvPr/>
        </p:nvSpPr>
        <p:spPr>
          <a:xfrm>
            <a:off x="508000" y="2095500"/>
            <a:ext cx="2603500" cy="1778000"/>
          </a:xfrm>
          <a:prstGeom prst="roundRect">
            <a:avLst/>
          </a:prstGeom>
          <a:solidFill>
            <a:srgbClr val="EAF3EC"/>
          </a:solidFill>
          <a:ln>
            <a:noFill/>
          </a:ln>
        </p:spPr>
        <p:txBody>
          <a:bodyPr wrap="square" anchor="ctr">
            <a:normAutofit/>
          </a:bodyPr>
          <a:lstStyle/>
          <a:p>
            <a:pPr algn="ctr"/>
            <a:r>
              <a:rPr lang="en-US" sz="2200" b="1" dirty="0">
                <a:solidFill>
                  <a:srgbClr val="1E7145"/>
                </a:solidFill>
              </a:rPr>
              <a:t>250</a:t>
            </a:r>
          </a:p>
          <a:p>
            <a:pPr algn="ctr"/>
            <a:r>
              <a:rPr lang="en-US" sz="1400" dirty="0">
                <a:solidFill>
                  <a:srgbClr val="1B3B2F"/>
                </a:solidFill>
              </a:rPr>
              <a:t>Total Orders</a:t>
            </a:r>
          </a:p>
        </p:txBody>
      </p:sp>
      <p:sp>
        <p:nvSpPr>
          <p:cNvPr id="402" name="KPI402"/>
          <p:cNvSpPr/>
          <p:nvPr/>
        </p:nvSpPr>
        <p:spPr>
          <a:xfrm>
            <a:off x="3365500" y="2095500"/>
            <a:ext cx="2603500" cy="1778000"/>
          </a:xfrm>
          <a:prstGeom prst="roundRect">
            <a:avLst/>
          </a:prstGeom>
          <a:solidFill>
            <a:srgbClr val="EAF3EC"/>
          </a:solidFill>
          <a:ln>
            <a:noFill/>
          </a:ln>
        </p:spPr>
        <p:txBody>
          <a:bodyPr wrap="square" anchor="ctr">
            <a:normAutofit/>
          </a:bodyPr>
          <a:lstStyle/>
          <a:p>
            <a:pPr algn="ctr"/>
            <a:r>
              <a:rPr lang="en-US" sz="2200" b="1" dirty="0">
                <a:solidFill>
                  <a:srgbClr val="1E7145"/>
                </a:solidFill>
              </a:rPr>
              <a:t>6,954</a:t>
            </a:r>
          </a:p>
          <a:p>
            <a:pPr algn="ctr"/>
            <a:r>
              <a:rPr lang="en-US" sz="1400" dirty="0">
                <a:solidFill>
                  <a:srgbClr val="1B3B2F"/>
                </a:solidFill>
              </a:rPr>
              <a:t>Total Quantity (units)</a:t>
            </a:r>
          </a:p>
        </p:txBody>
      </p:sp>
      <p:sp>
        <p:nvSpPr>
          <p:cNvPr id="403" name="KPI403"/>
          <p:cNvSpPr/>
          <p:nvPr/>
        </p:nvSpPr>
        <p:spPr>
          <a:xfrm>
            <a:off x="6223000" y="2095500"/>
            <a:ext cx="2603500" cy="1778000"/>
          </a:xfrm>
          <a:prstGeom prst="roundRect">
            <a:avLst/>
          </a:prstGeom>
          <a:solidFill>
            <a:srgbClr val="EAF3EC"/>
          </a:solidFill>
          <a:ln>
            <a:noFill/>
          </a:ln>
        </p:spPr>
        <p:txBody>
          <a:bodyPr wrap="square" anchor="ctr">
            <a:normAutofit/>
          </a:bodyPr>
          <a:lstStyle/>
          <a:p>
            <a:pPr algn="ctr"/>
            <a:r>
              <a:rPr lang="en-US" sz="2200" b="1" dirty="0">
                <a:solidFill>
                  <a:srgbClr val="1E7145"/>
                </a:solidFill>
              </a:rPr>
              <a:t>€12,960.50</a:t>
            </a:r>
          </a:p>
          <a:p>
            <a:pPr algn="ctr"/>
            <a:r>
              <a:rPr lang="en-US" sz="1400" dirty="0">
                <a:solidFill>
                  <a:srgbClr val="1B3B2F"/>
                </a:solidFill>
              </a:rPr>
              <a:t>Gross Sales</a:t>
            </a:r>
          </a:p>
        </p:txBody>
      </p:sp>
      <p:sp>
        <p:nvSpPr>
          <p:cNvPr id="404" name="KPI404"/>
          <p:cNvSpPr/>
          <p:nvPr/>
        </p:nvSpPr>
        <p:spPr>
          <a:xfrm>
            <a:off x="9080500" y="2095500"/>
            <a:ext cx="2603500" cy="1778000"/>
          </a:xfrm>
          <a:prstGeom prst="roundRect">
            <a:avLst/>
          </a:prstGeom>
          <a:solidFill>
            <a:srgbClr val="EAF3EC"/>
          </a:solidFill>
          <a:ln>
            <a:noFill/>
          </a:ln>
        </p:spPr>
        <p:txBody>
          <a:bodyPr wrap="square" anchor="ctr">
            <a:normAutofit/>
          </a:bodyPr>
          <a:lstStyle/>
          <a:p>
            <a:pPr algn="ctr"/>
            <a:r>
              <a:rPr lang="en-US" sz="2200" b="1" dirty="0">
                <a:solidFill>
                  <a:srgbClr val="1E7145"/>
                </a:solidFill>
              </a:rPr>
              <a:t>€6,950.40</a:t>
            </a:r>
          </a:p>
          <a:p>
            <a:pPr algn="ctr"/>
            <a:r>
              <a:rPr lang="en-US" sz="1400" dirty="0">
                <a:solidFill>
                  <a:srgbClr val="1B3B2F"/>
                </a:solidFill>
              </a:rPr>
              <a:t>Total Cost</a:t>
            </a:r>
          </a:p>
        </p:txBody>
      </p:sp>
      <p:sp>
        <p:nvSpPr>
          <p:cNvPr id="405" name="KPI405"/>
          <p:cNvSpPr/>
          <p:nvPr/>
        </p:nvSpPr>
        <p:spPr>
          <a:xfrm>
            <a:off x="508000" y="4127500"/>
            <a:ext cx="3556000" cy="1778000"/>
          </a:xfrm>
          <a:prstGeom prst="roundRect">
            <a:avLst/>
          </a:prstGeom>
          <a:solidFill>
            <a:srgbClr val="EAF3EC"/>
          </a:solidFill>
          <a:ln>
            <a:noFill/>
          </a:ln>
        </p:spPr>
        <p:txBody>
          <a:bodyPr wrap="square" anchor="ctr">
            <a:normAutofit/>
          </a:bodyPr>
          <a:lstStyle/>
          <a:p>
            <a:pPr algn="ctr"/>
            <a:r>
              <a:rPr lang="en-US" sz="2200" b="1" dirty="0">
                <a:solidFill>
                  <a:srgbClr val="1E7145"/>
                </a:solidFill>
              </a:rPr>
              <a:t>€250.99</a:t>
            </a:r>
          </a:p>
          <a:p>
            <a:pPr algn="ctr"/>
            <a:r>
              <a:rPr lang="en-US" sz="1400" dirty="0">
                <a:solidFill>
                  <a:srgbClr val="1B3B2F"/>
                </a:solidFill>
              </a:rPr>
              <a:t>Total Discount</a:t>
            </a:r>
          </a:p>
        </p:txBody>
      </p:sp>
      <p:sp>
        <p:nvSpPr>
          <p:cNvPr id="406" name="KPI406"/>
          <p:cNvSpPr/>
          <p:nvPr/>
        </p:nvSpPr>
        <p:spPr>
          <a:xfrm>
            <a:off x="4318000" y="4127500"/>
            <a:ext cx="3556000" cy="1778000"/>
          </a:xfrm>
          <a:prstGeom prst="roundRect">
            <a:avLst/>
          </a:prstGeom>
          <a:solidFill>
            <a:srgbClr val="1E7145"/>
          </a:solidFill>
          <a:ln>
            <a:noFill/>
          </a:ln>
        </p:spPr>
        <p:txBody>
          <a:bodyPr wrap="square" anchor="ctr">
            <a:normAutofit/>
          </a:bodyPr>
          <a:lstStyle/>
          <a:p>
            <a:pPr algn="ctr"/>
            <a:r>
              <a:rPr lang="en-US" sz="2200" b="1" dirty="0">
                <a:solidFill>
                  <a:srgbClr val="FFFFFF"/>
                </a:solidFill>
              </a:rPr>
              <a:t>€5,759.11</a:t>
            </a:r>
          </a:p>
          <a:p>
            <a:pPr algn="ctr"/>
            <a:r>
              <a:rPr lang="en-US" sz="1400" dirty="0">
                <a:solidFill>
                  <a:srgbClr val="FFFFFF"/>
                </a:solidFill>
              </a:rPr>
              <a:t>Net Sales / Profit</a:t>
            </a:r>
          </a:p>
        </p:txBody>
      </p:sp>
      <p:sp>
        <p:nvSpPr>
          <p:cNvPr id="407" name="KPI407"/>
          <p:cNvSpPr/>
          <p:nvPr/>
        </p:nvSpPr>
        <p:spPr>
          <a:xfrm>
            <a:off x="8128000" y="4127500"/>
            <a:ext cx="3556000" cy="1778000"/>
          </a:xfrm>
          <a:prstGeom prst="roundRect">
            <a:avLst/>
          </a:prstGeom>
          <a:solidFill>
            <a:srgbClr val="1E7145"/>
          </a:solidFill>
          <a:ln>
            <a:noFill/>
          </a:ln>
        </p:spPr>
        <p:txBody>
          <a:bodyPr wrap="square" anchor="ctr">
            <a:normAutofit/>
          </a:bodyPr>
          <a:lstStyle/>
          <a:p>
            <a:pPr algn="ctr"/>
            <a:r>
              <a:rPr lang="en-US" sz="2200" b="1" dirty="0">
                <a:solidFill>
                  <a:srgbClr val="FFFFFF"/>
                </a:solidFill>
              </a:rPr>
              <a:t>44.4%</a:t>
            </a:r>
          </a:p>
          <a:p>
            <a:pPr algn="ctr"/>
            <a:r>
              <a:rPr lang="en-US" sz="1400" dirty="0">
                <a:solidFill>
                  <a:srgbClr val="FFFFFF"/>
                </a:solidFill>
              </a:rPr>
              <a:t>Profit Margin</a:t>
            </a:r>
          </a:p>
        </p:txBody>
      </p:sp>
    </p:spTree>
    <p:extLst>
      <p:ext uri="{BB962C8B-B14F-4D97-AF65-F5344CB8AC3E}">
        <p14:creationId xmlns:p14="http://schemas.microsoft.com/office/powerpoint/2010/main" val="366167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60DE5-8BAC-B669-0669-EE470AED6C6C}"/>
              </a:ext>
            </a:extLst>
          </p:cNvPr>
          <p:cNvSpPr>
            <a:spLocks noGrp="1"/>
          </p:cNvSpPr>
          <p:nvPr>
            <p:ph type="title"/>
          </p:nvPr>
        </p:nvSpPr>
        <p:spPr/>
        <p:txBody>
          <a:bodyPr/>
          <a:lstStyle/>
          <a:p>
            <a:r>
              <a:rPr lang="en-US" dirty="0"/>
              <a:t>Demand Through the Month</a:t>
            </a:r>
          </a:p>
        </p:txBody>
      </p:sp>
      <p:graphicFrame>
        <p:nvGraphicFramePr>
          <p:cNvPr id="501" name="Chart 1"/>
          <p:cNvGraphicFramePr/>
          <p:nvPr/>
        </p:nvGraphicFramePr>
        <p:xfrm>
          <a:off x="228600" y="1750000"/>
          <a:ext cx="8686800" cy="470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4758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F51C-2C18-0EEE-8E6D-CA12AE8AB462}"/>
              </a:ext>
            </a:extLst>
          </p:cNvPr>
          <p:cNvSpPr>
            <a:spLocks noGrp="1"/>
          </p:cNvSpPr>
          <p:nvPr>
            <p:ph type="title"/>
          </p:nvPr>
        </p:nvSpPr>
        <p:spPr/>
        <p:txBody>
          <a:bodyPr/>
          <a:lstStyle/>
          <a:p>
            <a:r>
              <a:rPr lang="en-US" dirty="0"/>
              <a:t>Regional Performance</a:t>
            </a:r>
          </a:p>
        </p:txBody>
      </p:sp>
      <p:graphicFrame>
        <p:nvGraphicFramePr>
          <p:cNvPr id="501" name="Chart 1"/>
          <p:cNvGraphicFramePr/>
          <p:nvPr/>
        </p:nvGraphicFramePr>
        <p:xfrm>
          <a:off x="228600" y="1750000"/>
          <a:ext cx="8686800" cy="470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3196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2DB83-3DC6-8C33-4BE1-A679448FE714}"/>
              </a:ext>
            </a:extLst>
          </p:cNvPr>
          <p:cNvSpPr>
            <a:spLocks noGrp="1"/>
          </p:cNvSpPr>
          <p:nvPr>
            <p:ph type="title"/>
          </p:nvPr>
        </p:nvSpPr>
        <p:spPr/>
        <p:txBody>
          <a:bodyPr/>
          <a:lstStyle/>
          <a:p>
            <a:r>
              <a:rPr lang="en-GB"/>
              <a:t>Channel Performance</a:t>
            </a:r>
          </a:p>
        </p:txBody>
      </p:sp>
      <p:graphicFrame>
        <p:nvGraphicFramePr>
          <p:cNvPr id="501" name="Chart 1"/>
          <p:cNvGraphicFramePr/>
          <p:nvPr/>
        </p:nvGraphicFramePr>
        <p:xfrm>
          <a:off x="228600" y="1750000"/>
          <a:ext cx="8686800" cy="470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79160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FF4E-A217-DDDB-C9DC-AC26943DA64C}"/>
              </a:ext>
            </a:extLst>
          </p:cNvPr>
          <p:cNvSpPr>
            <a:spLocks noGrp="1"/>
          </p:cNvSpPr>
          <p:nvPr>
            <p:ph type="title"/>
          </p:nvPr>
        </p:nvSpPr>
        <p:spPr/>
        <p:txBody>
          <a:bodyPr/>
          <a:lstStyle/>
          <a:p>
            <a:r>
              <a:rPr lang="en-GB"/>
              <a:t>Category Performance</a:t>
            </a:r>
          </a:p>
        </p:txBody>
      </p:sp>
      <p:graphicFrame>
        <p:nvGraphicFramePr>
          <p:cNvPr id="501" name="Chart 1"/>
          <p:cNvGraphicFramePr/>
          <p:nvPr/>
        </p:nvGraphicFramePr>
        <p:xfrm>
          <a:off x="228600" y="1750000"/>
          <a:ext cx="8686800" cy="470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19634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FFD16-D79F-37FA-D1B7-A62762F5D491}"/>
              </a:ext>
            </a:extLst>
          </p:cNvPr>
          <p:cNvSpPr>
            <a:spLocks noGrp="1"/>
          </p:cNvSpPr>
          <p:nvPr>
            <p:ph type="title"/>
          </p:nvPr>
        </p:nvSpPr>
        <p:spPr/>
        <p:txBody>
          <a:bodyPr/>
          <a:lstStyle/>
          <a:p>
            <a:r>
              <a:rPr lang="en-GB"/>
              <a:t>Product Profit Leaders</a:t>
            </a:r>
          </a:p>
        </p:txBody>
      </p:sp>
      <p:graphicFrame>
        <p:nvGraphicFramePr>
          <p:cNvPr id="501" name="Chart 1"/>
          <p:cNvGraphicFramePr/>
          <p:nvPr/>
        </p:nvGraphicFramePr>
        <p:xfrm>
          <a:off x="228600" y="1750000"/>
          <a:ext cx="8686800" cy="470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86338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46F30-6377-7304-9086-577A7560732E}"/>
              </a:ext>
            </a:extLst>
          </p:cNvPr>
          <p:cNvSpPr>
            <a:spLocks noGrp="1"/>
          </p:cNvSpPr>
          <p:nvPr>
            <p:ph type="title"/>
          </p:nvPr>
        </p:nvSpPr>
        <p:spPr/>
        <p:txBody>
          <a:bodyPr/>
          <a:lstStyle/>
          <a:p>
            <a:r>
              <a:rPr lang="en-GB"/>
              <a:t>Who Is Actually Buying</a:t>
            </a:r>
          </a:p>
        </p:txBody>
      </p:sp>
      <p:graphicFrame>
        <p:nvGraphicFramePr>
          <p:cNvPr id="501" name="Chart 1"/>
          <p:cNvGraphicFramePr/>
          <p:nvPr/>
        </p:nvGraphicFramePr>
        <p:xfrm>
          <a:off x="228600" y="1750000"/>
          <a:ext cx="8686800" cy="470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19929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E2508-79E4-3F28-B950-B8ACE5DDF3D1}"/>
              </a:ext>
            </a:extLst>
          </p:cNvPr>
          <p:cNvSpPr>
            <a:spLocks noGrp="1"/>
          </p:cNvSpPr>
          <p:nvPr>
            <p:ph type="title"/>
          </p:nvPr>
        </p:nvSpPr>
        <p:spPr/>
        <p:txBody>
          <a:bodyPr/>
          <a:lstStyle/>
          <a:p>
            <a:pPr>
              <a:buNone/>
            </a:pPr>
            <a:r>
              <a:rPr lang="en-US" dirty="0"/>
              <a:t>Channel Mix: Not One-Size-Fits-All</a:t>
            </a:r>
          </a:p>
        </p:txBody>
      </p:sp>
      <p:sp>
        <p:nvSpPr>
          <p:cNvPr id="3" name="Content Placeholder 2">
            <a:extLst>
              <a:ext uri="{FF2B5EF4-FFF2-40B4-BE49-F238E27FC236}">
                <a16:creationId xmlns:a16="http://schemas.microsoft.com/office/drawing/2014/main" id="{4E2A72BB-9159-9155-34B8-D89445B675A7}"/>
              </a:ext>
            </a:extLst>
          </p:cNvPr>
          <p:cNvSpPr>
            <a:spLocks noGrp="1"/>
          </p:cNvSpPr>
          <p:nvPr>
            <p:ph idx="1"/>
          </p:nvPr>
        </p:nvSpPr>
        <p:spPr>
          <a:xfrm>
            <a:off x="762000" y="1625600"/>
            <a:ext cx="10668000" cy="2222500"/>
          </a:xfrm>
        </p:spPr>
        <p:txBody>
          <a:bodyPr/>
          <a:lstStyle/>
          <a:p>
            <a:pPr marL="228600" indent="-228600">
              <a:buFont typeface="Arial"/>
              <a:buChar char="•"/>
            </a:pPr>
            <a:r>
              <a:rPr lang="en-US" sz="1700" b="1" dirty="0"/>
              <a:t>Louth is relationship-driven: </a:t>
            </a:r>
            <a:r>
              <a:rPr lang="en-US" sz="1700" dirty="0"/>
              <a:t>Phone (59.1%) + Sales Rep (27.8%) + Distributor (13.2%) = 100% of revenue, with zero online or email orders.</a:t>
            </a:r>
          </a:p>
          <a:p>
            <a:pPr marL="228600" indent="-228600">
              <a:buFont typeface="Arial"/>
              <a:buChar char="•"/>
            </a:pPr>
            <a:r>
              <a:rPr lang="en-US" sz="1700" b="1" dirty="0"/>
              <a:t>Waterford and Wexford are mixed/self-serve: </a:t>
            </a:r>
            <a:r>
              <a:rPr lang="en-US" sz="1700" dirty="0"/>
              <a:t>Waterford's top channel is Email (37.1%), ahead of Phone (31.8%). Wexford splits nearly evenly between Phone (40.1%) and Online (34.2%).</a:t>
            </a:r>
          </a:p>
        </p:txBody>
      </p:sp>
      <p:sp>
        <p:nvSpPr>
          <p:cNvPr id="601" name="CaveatBox"/>
          <p:cNvSpPr/>
          <p:nvPr/>
        </p:nvSpPr>
        <p:spPr>
          <a:xfrm>
            <a:off x="762000" y="4318000"/>
            <a:ext cx="10668000" cy="1905000"/>
          </a:xfrm>
          <a:prstGeom prst="roundRect">
            <a:avLst/>
          </a:prstGeom>
          <a:solidFill>
            <a:srgbClr val="EAF3EC"/>
          </a:solidFill>
          <a:ln>
            <a:solidFill>
              <a:srgbClr val="4CA771"/>
            </a:solidFill>
          </a:ln>
        </p:spPr>
        <p:txBody>
          <a:bodyPr wrap="square" lIns="182880" tIns="91440" rIns="182880" bIns="91440" anchor="ctr">
            <a:normAutofit/>
          </a:bodyPr>
          <a:lstStyle/>
          <a:p>
            <a:pPr algn="l">
              <a:buNone/>
            </a:pPr>
            <a:r>
              <a:rPr lang="en-US" sz="1500" b="1" dirty="0">
                <a:solidFill>
                  <a:srgbClr val="1E7145"/>
                </a:solidFill>
              </a:rPr>
              <a:t>Channel mix is not uniform across the top counties.</a:t>
            </a:r>
          </a:p>
          <a:p>
            <a:pPr algn="l">
              <a:buNone/>
            </a:pPr>
            <a:r>
              <a:rPr lang="en-US" sz="1400" dirty="0">
                <a:solidFill>
                  <a:srgbClr val="1B3B2F"/>
                </a:solidFill>
              </a:rPr>
              <a:t>Only Louth fits a relationship-heavy profile. Waterford and Wexford show meaningful digital/self-serve activity. See Slide 16 for the resulting recommendation on channel strategy.</a:t>
            </a:r>
          </a:p>
        </p:txBody>
      </p:sp>
    </p:spTree>
    <p:extLst>
      <p:ext uri="{BB962C8B-B14F-4D97-AF65-F5344CB8AC3E}">
        <p14:creationId xmlns:p14="http://schemas.microsoft.com/office/powerpoint/2010/main" val="348926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Card701"/>
          <p:cNvSpPr/>
          <p:nvPr/>
        </p:nvSpPr>
        <p:spPr>
          <a:xfrm>
            <a:off x="635000" y="1625600"/>
            <a:ext cx="5270500" cy="4445000"/>
          </a:xfrm>
          <a:prstGeom prst="roundRect">
            <a:avLst/>
          </a:prstGeom>
          <a:solidFill>
            <a:srgbClr val="EAF3EC"/>
          </a:solidFill>
          <a:ln>
            <a:noFill/>
          </a:ln>
        </p:spPr>
        <p:txBody>
          <a:bodyPr/>
          <a:lstStyle/>
          <a:p>
            <a:endParaRPr/>
          </a:p>
        </p:txBody>
      </p:sp>
      <p:sp>
        <p:nvSpPr>
          <p:cNvPr id="702" name="Card702"/>
          <p:cNvSpPr/>
          <p:nvPr/>
        </p:nvSpPr>
        <p:spPr>
          <a:xfrm>
            <a:off x="6127750" y="1625600"/>
            <a:ext cx="5270500" cy="4445000"/>
          </a:xfrm>
          <a:prstGeom prst="roundRect">
            <a:avLst/>
          </a:prstGeom>
          <a:solidFill>
            <a:srgbClr val="F3F8F4"/>
          </a:solidFill>
          <a:ln>
            <a:noFill/>
          </a:ln>
        </p:spPr>
        <p:txBody>
          <a:bodyPr/>
          <a:lstStyle/>
          <a:p>
            <a:endParaRPr/>
          </a:p>
        </p:txBody>
      </p:sp>
      <p:sp>
        <p:nvSpPr>
          <p:cNvPr id="2" name="Title 1">
            <a:extLst>
              <a:ext uri="{FF2B5EF4-FFF2-40B4-BE49-F238E27FC236}">
                <a16:creationId xmlns:a16="http://schemas.microsoft.com/office/drawing/2014/main" id="{847EB274-BCC9-665E-3E96-9EACAC146B54}"/>
              </a:ext>
            </a:extLst>
          </p:cNvPr>
          <p:cNvSpPr>
            <a:spLocks noGrp="1"/>
          </p:cNvSpPr>
          <p:nvPr>
            <p:ph type="title"/>
          </p:nvPr>
        </p:nvSpPr>
        <p:spPr/>
        <p:txBody>
          <a:bodyPr/>
          <a:lstStyle/>
          <a:p>
            <a:r>
              <a:rPr lang="en-GB"/>
              <a:t>Strengths, Risks &amp; Opportunities</a:t>
            </a:r>
          </a:p>
        </p:txBody>
      </p:sp>
      <p:sp>
        <p:nvSpPr>
          <p:cNvPr id="3" name="Content Placeholder 2">
            <a:extLst>
              <a:ext uri="{FF2B5EF4-FFF2-40B4-BE49-F238E27FC236}">
                <a16:creationId xmlns:a16="http://schemas.microsoft.com/office/drawing/2014/main" id="{41A6AD8D-9A66-1568-421E-ED4C1083378E}"/>
              </a:ext>
            </a:extLst>
          </p:cNvPr>
          <p:cNvSpPr>
            <a:spLocks noGrp="1"/>
          </p:cNvSpPr>
          <p:nvPr>
            <p:ph sz="half" idx="1"/>
          </p:nvPr>
        </p:nvSpPr>
        <p:spPr/>
        <p:txBody>
          <a:bodyPr anchor="ctr"/>
          <a:lstStyle/>
          <a:p>
            <a:pPr>
              <a:buNone/>
            </a:pPr>
            <a:r>
              <a:rPr lang="en-US" sz="1800" b="1" dirty="0">
                <a:solidFill>
                  <a:srgbClr val="1E7145"/>
                </a:solidFill>
              </a:rPr>
              <a:t>STRENGTHS</a:t>
            </a:r>
          </a:p>
          <a:p>
            <a:pPr marL="228600" indent="-228600">
              <a:buFont typeface="Arial"/>
              <a:buChar char="•"/>
            </a:pPr>
            <a:r>
              <a:rPr lang="en-US" sz="1500" dirty="0"/>
              <a:t>Healthy 44.4% margin with low discounting pricing discipline is already in place.</a:t>
            </a:r>
          </a:p>
          <a:p>
            <a:pPr marL="228600" indent="-228600">
              <a:buFont typeface="Arial"/>
              <a:buChar char="•"/>
            </a:pPr>
            <a:r>
              <a:rPr lang="en-US" sz="1500" dirty="0"/>
              <a:t>Water and Juice categories, and the Phone channel, are reliable revenue engines.</a:t>
            </a:r>
          </a:p>
        </p:txBody>
      </p:sp>
      <p:sp>
        <p:nvSpPr>
          <p:cNvPr id="4" name="Content Placeholder 3">
            <a:extLst>
              <a:ext uri="{FF2B5EF4-FFF2-40B4-BE49-F238E27FC236}">
                <a16:creationId xmlns:a16="http://schemas.microsoft.com/office/drawing/2014/main" id="{7E48E34A-64E5-258D-37D0-65715F5C4A43}"/>
              </a:ext>
            </a:extLst>
          </p:cNvPr>
          <p:cNvSpPr>
            <a:spLocks noGrp="1"/>
          </p:cNvSpPr>
          <p:nvPr>
            <p:ph sz="half" idx="2"/>
          </p:nvPr>
        </p:nvSpPr>
        <p:spPr/>
        <p:txBody>
          <a:bodyPr anchor="ctr"/>
          <a:lstStyle/>
          <a:p>
            <a:pPr>
              <a:buNone/>
            </a:pPr>
            <a:r>
              <a:rPr lang="en-US" sz="1800" b="1" dirty="0">
                <a:solidFill>
                  <a:srgbClr val="2E5B4A"/>
                </a:solidFill>
              </a:rPr>
              <a:t>RISKS &amp; OPPORTUNITIES</a:t>
            </a:r>
          </a:p>
          <a:p>
            <a:pPr marL="228600" indent="-228600">
              <a:buFont typeface="Arial"/>
              <a:buChar char="•"/>
            </a:pPr>
            <a:r>
              <a:rPr lang="en-US" sz="1500" dirty="0"/>
              <a:t>Risk: revenue is concentrated in the top 5 counties and one channel (Phone) efficient today, but a vulnerability if that channel or those relationships weaken.</a:t>
            </a:r>
          </a:p>
          <a:p>
            <a:pPr marL="228600" indent="-228600">
              <a:buFont typeface="Arial"/>
              <a:buChar char="•"/>
            </a:pPr>
            <a:r>
              <a:rPr lang="en-US" sz="1500" dirty="0"/>
              <a:t>Opportunity: Supermarket and Cork/Limerick are behind where their size would suggest, and Energy Boost and Sparkling Citrus are underleveraged given how profitable they already are.</a:t>
            </a:r>
          </a:p>
        </p:txBody>
      </p:sp>
    </p:spTree>
    <p:extLst>
      <p:ext uri="{BB962C8B-B14F-4D97-AF65-F5344CB8AC3E}">
        <p14:creationId xmlns:p14="http://schemas.microsoft.com/office/powerpoint/2010/main" val="312681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A285B-E897-8655-B51E-AD8A86AE9A40}"/>
              </a:ext>
            </a:extLst>
          </p:cNvPr>
          <p:cNvSpPr>
            <a:spLocks noGrp="1"/>
          </p:cNvSpPr>
          <p:nvPr>
            <p:ph type="title"/>
          </p:nvPr>
        </p:nvSpPr>
        <p:spPr/>
        <p:txBody>
          <a:bodyPr/>
          <a:lstStyle/>
          <a:p>
            <a:r>
              <a:rPr lang="en-GB"/>
              <a:t>Strongest &amp; Weakest Areas</a:t>
            </a:r>
          </a:p>
        </p:txBody>
      </p:sp>
      <p:graphicFrame>
        <p:nvGraphicFramePr>
          <p:cNvPr id="4" name="Table 3">
            <a:extLst>
              <a:ext uri="{FF2B5EF4-FFF2-40B4-BE49-F238E27FC236}">
                <a16:creationId xmlns:a16="http://schemas.microsoft.com/office/drawing/2014/main" id="{1A3C7E00-939B-446D-B02E-D09048D2253C}"/>
              </a:ext>
            </a:extLst>
          </p:cNvPr>
          <p:cNvGraphicFramePr>
            <a:graphicFrameLocks noGrp="1"/>
          </p:cNvGraphicFramePr>
          <p:nvPr/>
        </p:nvGraphicFramePr>
        <p:xfrm>
          <a:off x="1143000" y="1905000"/>
          <a:ext cx="9906000" cy="419100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1763561454"/>
                    </a:ext>
                  </a:extLst>
                </a:gridCol>
                <a:gridCol w="3302000">
                  <a:extLst>
                    <a:ext uri="{9D8B030D-6E8A-4147-A177-3AD203B41FA5}">
                      <a16:colId xmlns:a16="http://schemas.microsoft.com/office/drawing/2014/main" val="1584694170"/>
                    </a:ext>
                  </a:extLst>
                </a:gridCol>
                <a:gridCol w="3302000">
                  <a:extLst>
                    <a:ext uri="{9D8B030D-6E8A-4147-A177-3AD203B41FA5}">
                      <a16:colId xmlns:a16="http://schemas.microsoft.com/office/drawing/2014/main" val="2522364693"/>
                    </a:ext>
                  </a:extLst>
                </a:gridCol>
              </a:tblGrid>
              <a:tr h="698500">
                <a:tc>
                  <a:txBody>
                    <a:bodyPr/>
                    <a:lstStyle/>
                    <a:p>
                      <a:pPr algn="ctr"/>
                      <a:r>
                        <a:rPr lang="en-GB" sz="1600" b="1">
                          <a:solidFill>
                            <a:srgbClr val="FFFFFF"/>
                          </a:solidFill>
                        </a:rPr>
                        <a:t>Dimension</a:t>
                      </a:r>
                    </a:p>
                  </a:txBody>
                  <a:tcPr anchor="ctr">
                    <a:solidFill>
                      <a:srgbClr val="1E7145"/>
                    </a:solidFill>
                  </a:tcPr>
                </a:tc>
                <a:tc>
                  <a:txBody>
                    <a:bodyPr/>
                    <a:lstStyle/>
                    <a:p>
                      <a:pPr algn="ctr"/>
                      <a:r>
                        <a:rPr lang="en-GB" sz="1600" b="1">
                          <a:solidFill>
                            <a:srgbClr val="FFFFFF"/>
                          </a:solidFill>
                        </a:rPr>
                        <a:t>Strongest</a:t>
                      </a:r>
                    </a:p>
                  </a:txBody>
                  <a:tcPr anchor="ctr">
                    <a:solidFill>
                      <a:srgbClr val="1E7145"/>
                    </a:solidFill>
                  </a:tcPr>
                </a:tc>
                <a:tc>
                  <a:txBody>
                    <a:bodyPr/>
                    <a:lstStyle/>
                    <a:p>
                      <a:pPr algn="ctr"/>
                      <a:r>
                        <a:rPr lang="en-GB" sz="1600" b="1">
                          <a:solidFill>
                            <a:srgbClr val="FFFFFF"/>
                          </a:solidFill>
                        </a:rPr>
                        <a:t>Weakest</a:t>
                      </a:r>
                    </a:p>
                  </a:txBody>
                  <a:tcPr anchor="ctr">
                    <a:solidFill>
                      <a:srgbClr val="1E7145"/>
                    </a:solidFill>
                  </a:tcPr>
                </a:tc>
                <a:extLst>
                  <a:ext uri="{0D108BD9-81ED-4DB2-BD59-A6C34878D82A}">
                    <a16:rowId xmlns:a16="http://schemas.microsoft.com/office/drawing/2014/main" val="371900938"/>
                  </a:ext>
                </a:extLst>
              </a:tr>
              <a:tr h="698500">
                <a:tc>
                  <a:txBody>
                    <a:bodyPr/>
                    <a:lstStyle/>
                    <a:p>
                      <a:pPr algn="l"/>
                      <a:r>
                        <a:rPr lang="en-GB" sz="1500" b="1">
                          <a:solidFill>
                            <a:srgbClr val="1B3B2F"/>
                          </a:solidFill>
                        </a:rPr>
                        <a:t>County</a:t>
                      </a:r>
                    </a:p>
                  </a:txBody>
                  <a:tcPr anchor="ctr">
                    <a:solidFill>
                      <a:srgbClr val="EAF3EC"/>
                    </a:solidFill>
                  </a:tcPr>
                </a:tc>
                <a:tc>
                  <a:txBody>
                    <a:bodyPr/>
                    <a:lstStyle/>
                    <a:p>
                      <a:pPr algn="ctr"/>
                      <a:r>
                        <a:rPr lang="en-GB" sz="1500" b="1">
                          <a:solidFill>
                            <a:srgbClr val="1E7145"/>
                          </a:solidFill>
                        </a:rPr>
                        <a:t>Waterford</a:t>
                      </a:r>
                    </a:p>
                  </a:txBody>
                  <a:tcPr anchor="ctr">
                    <a:solidFill>
                      <a:srgbClr val="F3F8F4"/>
                    </a:solidFill>
                  </a:tcPr>
                </a:tc>
                <a:tc>
                  <a:txBody>
                    <a:bodyPr/>
                    <a:lstStyle/>
                    <a:p>
                      <a:pPr algn="ctr"/>
                      <a:r>
                        <a:rPr lang="en-GB" sz="1500" b="1">
                          <a:solidFill>
                            <a:srgbClr val="8C3A2B"/>
                          </a:solidFill>
                        </a:rPr>
                        <a:t>Limerick</a:t>
                      </a:r>
                    </a:p>
                  </a:txBody>
                  <a:tcPr anchor="ctr">
                    <a:solidFill>
                      <a:srgbClr val="FDF3F0"/>
                    </a:solidFill>
                  </a:tcPr>
                </a:tc>
                <a:extLst>
                  <a:ext uri="{0D108BD9-81ED-4DB2-BD59-A6C34878D82A}">
                    <a16:rowId xmlns:a16="http://schemas.microsoft.com/office/drawing/2014/main" val="2676247758"/>
                  </a:ext>
                </a:extLst>
              </a:tr>
              <a:tr h="698500">
                <a:tc>
                  <a:txBody>
                    <a:bodyPr/>
                    <a:lstStyle/>
                    <a:p>
                      <a:pPr algn="l"/>
                      <a:r>
                        <a:rPr lang="en-GB" sz="1500" b="1">
                          <a:solidFill>
                            <a:srgbClr val="1B3B2F"/>
                          </a:solidFill>
                        </a:rPr>
                        <a:t>Channel</a:t>
                      </a:r>
                    </a:p>
                  </a:txBody>
                  <a:tcPr anchor="ctr">
                    <a:solidFill>
                      <a:srgbClr val="EAF3EC"/>
                    </a:solidFill>
                  </a:tcPr>
                </a:tc>
                <a:tc>
                  <a:txBody>
                    <a:bodyPr/>
                    <a:lstStyle/>
                    <a:p>
                      <a:pPr algn="ctr"/>
                      <a:r>
                        <a:rPr lang="en-GB" sz="1500" b="1">
                          <a:solidFill>
                            <a:srgbClr val="1E7145"/>
                          </a:solidFill>
                        </a:rPr>
                        <a:t>Phone</a:t>
                      </a:r>
                    </a:p>
                  </a:txBody>
                  <a:tcPr anchor="ctr">
                    <a:solidFill>
                      <a:srgbClr val="F3F8F4"/>
                    </a:solidFill>
                  </a:tcPr>
                </a:tc>
                <a:tc>
                  <a:txBody>
                    <a:bodyPr/>
                    <a:lstStyle/>
                    <a:p>
                      <a:pPr algn="ctr"/>
                      <a:r>
                        <a:rPr lang="en-GB" sz="1500" b="1">
                          <a:solidFill>
                            <a:srgbClr val="8C3A2B"/>
                          </a:solidFill>
                        </a:rPr>
                        <a:t>Sales Rep</a:t>
                      </a:r>
                    </a:p>
                  </a:txBody>
                  <a:tcPr anchor="ctr">
                    <a:solidFill>
                      <a:srgbClr val="FDF3F0"/>
                    </a:solidFill>
                  </a:tcPr>
                </a:tc>
                <a:extLst>
                  <a:ext uri="{0D108BD9-81ED-4DB2-BD59-A6C34878D82A}">
                    <a16:rowId xmlns:a16="http://schemas.microsoft.com/office/drawing/2014/main" val="316782230"/>
                  </a:ext>
                </a:extLst>
              </a:tr>
              <a:tr h="698500">
                <a:tc>
                  <a:txBody>
                    <a:bodyPr/>
                    <a:lstStyle/>
                    <a:p>
                      <a:pPr algn="l"/>
                      <a:r>
                        <a:rPr lang="en-GB" sz="1500" b="1">
                          <a:solidFill>
                            <a:srgbClr val="1B3B2F"/>
                          </a:solidFill>
                        </a:rPr>
                        <a:t>Category</a:t>
                      </a:r>
                    </a:p>
                  </a:txBody>
                  <a:tcPr anchor="ctr">
                    <a:solidFill>
                      <a:srgbClr val="EAF3EC"/>
                    </a:solidFill>
                  </a:tcPr>
                </a:tc>
                <a:tc>
                  <a:txBody>
                    <a:bodyPr/>
                    <a:lstStyle/>
                    <a:p>
                      <a:pPr algn="ctr"/>
                      <a:r>
                        <a:rPr lang="en-GB" sz="1500" b="1">
                          <a:solidFill>
                            <a:srgbClr val="1E7145"/>
                          </a:solidFill>
                        </a:rPr>
                        <a:t>Water</a:t>
                      </a:r>
                    </a:p>
                  </a:txBody>
                  <a:tcPr anchor="ctr">
                    <a:solidFill>
                      <a:srgbClr val="F3F8F4"/>
                    </a:solidFill>
                  </a:tcPr>
                </a:tc>
                <a:tc>
                  <a:txBody>
                    <a:bodyPr/>
                    <a:lstStyle/>
                    <a:p>
                      <a:pPr algn="ctr"/>
                      <a:r>
                        <a:rPr lang="en-GB" sz="1500" b="1">
                          <a:solidFill>
                            <a:srgbClr val="8C3A2B"/>
                          </a:solidFill>
                        </a:rPr>
                        <a:t>Energy Drink</a:t>
                      </a:r>
                    </a:p>
                  </a:txBody>
                  <a:tcPr anchor="ctr">
                    <a:solidFill>
                      <a:srgbClr val="FDF3F0"/>
                    </a:solidFill>
                  </a:tcPr>
                </a:tc>
                <a:extLst>
                  <a:ext uri="{0D108BD9-81ED-4DB2-BD59-A6C34878D82A}">
                    <a16:rowId xmlns:a16="http://schemas.microsoft.com/office/drawing/2014/main" val="3031365788"/>
                  </a:ext>
                </a:extLst>
              </a:tr>
              <a:tr h="698500">
                <a:tc>
                  <a:txBody>
                    <a:bodyPr/>
                    <a:lstStyle/>
                    <a:p>
                      <a:pPr algn="l"/>
                      <a:r>
                        <a:rPr lang="en-GB" sz="1500" b="1">
                          <a:solidFill>
                            <a:srgbClr val="1B3B2F"/>
                          </a:solidFill>
                        </a:rPr>
                        <a:t>Customer Type</a:t>
                      </a:r>
                    </a:p>
                  </a:txBody>
                  <a:tcPr anchor="ctr">
                    <a:solidFill>
                      <a:srgbClr val="EAF3EC"/>
                    </a:solidFill>
                  </a:tcPr>
                </a:tc>
                <a:tc>
                  <a:txBody>
                    <a:bodyPr/>
                    <a:lstStyle/>
                    <a:p>
                      <a:pPr algn="ctr"/>
                      <a:r>
                        <a:rPr lang="en-GB" sz="1500" b="1">
                          <a:solidFill>
                            <a:srgbClr val="1E7145"/>
                          </a:solidFill>
                        </a:rPr>
                        <a:t>Restaurant</a:t>
                      </a:r>
                    </a:p>
                  </a:txBody>
                  <a:tcPr anchor="ctr">
                    <a:solidFill>
                      <a:srgbClr val="F3F8F4"/>
                    </a:solidFill>
                  </a:tcPr>
                </a:tc>
                <a:tc>
                  <a:txBody>
                    <a:bodyPr/>
                    <a:lstStyle/>
                    <a:p>
                      <a:pPr algn="ctr"/>
                      <a:r>
                        <a:rPr lang="en-GB" sz="1500" b="1">
                          <a:solidFill>
                            <a:srgbClr val="8C3A2B"/>
                          </a:solidFill>
                        </a:rPr>
                        <a:t>Supermarket</a:t>
                      </a:r>
                    </a:p>
                  </a:txBody>
                  <a:tcPr anchor="ctr">
                    <a:solidFill>
                      <a:srgbClr val="FDF3F0"/>
                    </a:solidFill>
                  </a:tcPr>
                </a:tc>
                <a:extLst>
                  <a:ext uri="{0D108BD9-81ED-4DB2-BD59-A6C34878D82A}">
                    <a16:rowId xmlns:a16="http://schemas.microsoft.com/office/drawing/2014/main" val="426928436"/>
                  </a:ext>
                </a:extLst>
              </a:tr>
              <a:tr h="698500">
                <a:tc>
                  <a:txBody>
                    <a:bodyPr/>
                    <a:lstStyle/>
                    <a:p>
                      <a:pPr algn="l"/>
                      <a:r>
                        <a:rPr lang="en-GB" sz="1500" b="1">
                          <a:solidFill>
                            <a:srgbClr val="1B3B2F"/>
                          </a:solidFill>
                        </a:rPr>
                        <a:t>Product (Profit)</a:t>
                      </a:r>
                    </a:p>
                  </a:txBody>
                  <a:tcPr anchor="ctr">
                    <a:solidFill>
                      <a:srgbClr val="EAF3EC"/>
                    </a:solidFill>
                  </a:tcPr>
                </a:tc>
                <a:tc>
                  <a:txBody>
                    <a:bodyPr/>
                    <a:lstStyle/>
                    <a:p>
                      <a:pPr algn="ctr"/>
                      <a:r>
                        <a:rPr lang="en-GB" sz="1500" b="1">
                          <a:solidFill>
                            <a:srgbClr val="1E7145"/>
                          </a:solidFill>
                        </a:rPr>
                        <a:t>Energy Boost</a:t>
                      </a:r>
                    </a:p>
                  </a:txBody>
                  <a:tcPr anchor="ctr">
                    <a:solidFill>
                      <a:srgbClr val="F3F8F4"/>
                    </a:solidFill>
                  </a:tcPr>
                </a:tc>
                <a:tc>
                  <a:txBody>
                    <a:bodyPr/>
                    <a:lstStyle/>
                    <a:p>
                      <a:pPr algn="ctr"/>
                      <a:r>
                        <a:rPr lang="en-GB" sz="1500" b="1">
                          <a:solidFill>
                            <a:srgbClr val="8C3A2B"/>
                          </a:solidFill>
                        </a:rPr>
                        <a:t>Cola</a:t>
                      </a:r>
                    </a:p>
                  </a:txBody>
                  <a:tcPr anchor="ctr">
                    <a:solidFill>
                      <a:srgbClr val="FDF3F0"/>
                    </a:solidFill>
                  </a:tcPr>
                </a:tc>
                <a:extLst>
                  <a:ext uri="{0D108BD9-81ED-4DB2-BD59-A6C34878D82A}">
                    <a16:rowId xmlns:a16="http://schemas.microsoft.com/office/drawing/2014/main" val="1361842577"/>
                  </a:ext>
                </a:extLst>
              </a:tr>
            </a:tbl>
          </a:graphicData>
        </a:graphic>
      </p:graphicFrame>
    </p:spTree>
    <p:extLst>
      <p:ext uri="{BB962C8B-B14F-4D97-AF65-F5344CB8AC3E}">
        <p14:creationId xmlns:p14="http://schemas.microsoft.com/office/powerpoint/2010/main" val="2880984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4F7FA-58E8-F038-182D-3751A7539528}"/>
              </a:ext>
            </a:extLst>
          </p:cNvPr>
          <p:cNvSpPr>
            <a:spLocks noGrp="1"/>
          </p:cNvSpPr>
          <p:nvPr>
            <p:ph type="title"/>
          </p:nvPr>
        </p:nvSpPr>
        <p:spPr/>
        <p:txBody>
          <a:bodyPr/>
          <a:lstStyle/>
          <a:p>
            <a:r>
              <a:rPr lang="en-US" dirty="0"/>
              <a:t>Recommendations</a:t>
            </a:r>
          </a:p>
        </p:txBody>
      </p:sp>
      <p:sp>
        <p:nvSpPr>
          <p:cNvPr id="801" name="Quad801"/>
          <p:cNvSpPr/>
          <p:nvPr/>
        </p:nvSpPr>
        <p:spPr>
          <a:xfrm>
            <a:off x="508000" y="1905000"/>
            <a:ext cx="5588000" cy="2159000"/>
          </a:xfrm>
          <a:prstGeom prst="roundRect">
            <a:avLst/>
          </a:prstGeom>
          <a:solidFill>
            <a:srgbClr val="1E7145"/>
          </a:solidFill>
          <a:ln>
            <a:noFill/>
          </a:ln>
        </p:spPr>
        <p:txBody>
          <a:bodyPr wrap="square" lIns="137160" tIns="91440" rIns="137160" bIns="91440" anchor="t"/>
          <a:lstStyle/>
          <a:p>
            <a:pPr>
              <a:buNone/>
            </a:pPr>
            <a:r>
              <a:rPr lang="en-US" sz="1600" b="1" dirty="0">
                <a:solidFill>
                  <a:srgbClr val="FFFFFF"/>
                </a:solidFill>
              </a:rPr>
              <a:t>INVEST</a:t>
            </a:r>
          </a:p>
          <a:p>
            <a:pPr marL="182880" indent="-182880">
              <a:buFont typeface="Arial"/>
              <a:buChar char="•"/>
            </a:pPr>
            <a:r>
              <a:rPr lang="en-US" sz="1300" dirty="0">
                <a:solidFill>
                  <a:srgbClr val="FFFFFF"/>
                </a:solidFill>
              </a:rPr>
              <a:t>Energy Boost &amp; Sparkling Citrus: highest profit per unit deserve marketing &amp; shelf priority independent of category size.</a:t>
            </a:r>
          </a:p>
          <a:p>
            <a:pPr marL="182880" indent="-182880">
              <a:buFont typeface="Arial"/>
              <a:buChar char="•"/>
            </a:pPr>
            <a:r>
              <a:rPr lang="en-US" sz="1300" dirty="0">
                <a:solidFill>
                  <a:srgbClr val="FFFFFF"/>
                </a:solidFill>
              </a:rPr>
              <a:t>Juice category: already the 2nd-largest revenue driver worth a targeted push.</a:t>
            </a:r>
          </a:p>
        </p:txBody>
      </p:sp>
      <p:sp>
        <p:nvSpPr>
          <p:cNvPr id="802" name="Quad802"/>
          <p:cNvSpPr/>
          <p:nvPr/>
        </p:nvSpPr>
        <p:spPr>
          <a:xfrm>
            <a:off x="6223000" y="1905000"/>
            <a:ext cx="5588000" cy="2159000"/>
          </a:xfrm>
          <a:prstGeom prst="roundRect">
            <a:avLst/>
          </a:prstGeom>
          <a:solidFill>
            <a:srgbClr val="2E5B4A"/>
          </a:solidFill>
          <a:ln>
            <a:noFill/>
          </a:ln>
        </p:spPr>
        <p:txBody>
          <a:bodyPr wrap="square" lIns="137160" tIns="91440" rIns="137160" bIns="91440" anchor="t"/>
          <a:lstStyle/>
          <a:p>
            <a:pPr>
              <a:buNone/>
            </a:pPr>
            <a:r>
              <a:rPr lang="en-US" sz="1600" b="1" dirty="0">
                <a:solidFill>
                  <a:srgbClr val="FFFFFF"/>
                </a:solidFill>
              </a:rPr>
              <a:t>MAINTAIN</a:t>
            </a:r>
          </a:p>
          <a:p>
            <a:pPr marL="182880" indent="-182880">
              <a:buFont typeface="Arial"/>
              <a:buChar char="•"/>
            </a:pPr>
            <a:r>
              <a:rPr lang="en-US" sz="1300" dirty="0">
                <a:solidFill>
                  <a:srgbClr val="FFFFFF"/>
                </a:solidFill>
              </a:rPr>
              <a:t>Phone: the largest single channel overall (37% of revenue) protect staffing and response quality before shifting investment elsewhere.</a:t>
            </a:r>
          </a:p>
          <a:p>
            <a:pPr marL="182880" indent="-182880">
              <a:buFont typeface="Arial"/>
              <a:buChar char="•"/>
            </a:pPr>
            <a:r>
              <a:rPr lang="en-US" sz="1300" dirty="0">
                <a:solidFill>
                  <a:srgbClr val="FFFFFF"/>
                </a:solidFill>
              </a:rPr>
              <a:t>Water category &amp; top 5 counties (Waterford, Wexford, Louth, Offaly, Galway): reliable revenue needs protecting, not fixing. Note: their channel mix varies by county (see Slide 13), so don't assume Phone applies uniformly.</a:t>
            </a:r>
          </a:p>
        </p:txBody>
      </p:sp>
      <p:sp>
        <p:nvSpPr>
          <p:cNvPr id="803" name="Quad803"/>
          <p:cNvSpPr/>
          <p:nvPr/>
        </p:nvSpPr>
        <p:spPr>
          <a:xfrm>
            <a:off x="508000" y="4254500"/>
            <a:ext cx="5588000" cy="2159000"/>
          </a:xfrm>
          <a:prstGeom prst="roundRect">
            <a:avLst/>
          </a:prstGeom>
          <a:solidFill>
            <a:srgbClr val="C9E4CE"/>
          </a:solidFill>
          <a:ln>
            <a:noFill/>
          </a:ln>
        </p:spPr>
        <p:txBody>
          <a:bodyPr wrap="square" lIns="137160" tIns="91440" rIns="137160" bIns="91440" anchor="t"/>
          <a:lstStyle/>
          <a:p>
            <a:pPr>
              <a:buNone/>
            </a:pPr>
            <a:r>
              <a:rPr lang="en-US" sz="1600" b="1" dirty="0">
                <a:solidFill>
                  <a:srgbClr val="1B3B2F"/>
                </a:solidFill>
              </a:rPr>
              <a:t>RECONSIDER</a:t>
            </a:r>
          </a:p>
          <a:p>
            <a:pPr marL="182880" indent="-182880">
              <a:buFont typeface="Arial"/>
              <a:buChar char="•"/>
            </a:pPr>
            <a:r>
              <a:rPr lang="en-US" sz="1300" dirty="0">
                <a:solidFill>
                  <a:srgbClr val="1B3B2F"/>
                </a:solidFill>
              </a:rPr>
              <a:t>Supermarket segment: weakest customer type by a wide margin decide deliberately whether to grow it or accept it as minor.</a:t>
            </a:r>
          </a:p>
          <a:p>
            <a:pPr marL="182880" indent="-182880">
              <a:buFont typeface="Arial"/>
              <a:buChar char="•"/>
            </a:pPr>
            <a:r>
              <a:rPr lang="en-US" sz="1300" dirty="0">
                <a:solidFill>
                  <a:srgbClr val="1B3B2F"/>
                </a:solidFill>
              </a:rPr>
              <a:t>Cork &amp; Limerick: investigate cause of underperformance (distribution, competition, coverage) before assuming a demand problem.</a:t>
            </a:r>
          </a:p>
        </p:txBody>
      </p:sp>
      <p:sp>
        <p:nvSpPr>
          <p:cNvPr id="804" name="Quad804"/>
          <p:cNvSpPr/>
          <p:nvPr/>
        </p:nvSpPr>
        <p:spPr>
          <a:xfrm>
            <a:off x="6223000" y="4254500"/>
            <a:ext cx="5588000" cy="2159000"/>
          </a:xfrm>
          <a:prstGeom prst="roundRect">
            <a:avLst/>
          </a:prstGeom>
          <a:solidFill>
            <a:srgbClr val="EAF3EC"/>
          </a:solidFill>
          <a:ln>
            <a:noFill/>
          </a:ln>
        </p:spPr>
        <p:txBody>
          <a:bodyPr wrap="square" lIns="137160" tIns="91440" rIns="137160" bIns="91440" anchor="t"/>
          <a:lstStyle/>
          <a:p>
            <a:pPr>
              <a:buNone/>
            </a:pPr>
            <a:r>
              <a:rPr lang="en-US" sz="1600" b="1" dirty="0">
                <a:solidFill>
                  <a:srgbClr val="1B3B2F"/>
                </a:solidFill>
              </a:rPr>
              <a:t>REDUCE / RE-EXAMINE</a:t>
            </a:r>
          </a:p>
          <a:p>
            <a:pPr marL="182880" indent="-182880">
              <a:buFont typeface="Arial"/>
              <a:buChar char="•"/>
            </a:pPr>
            <a:r>
              <a:rPr lang="en-US" sz="1300" dirty="0">
                <a:solidFill>
                  <a:srgbClr val="1B3B2F"/>
                </a:solidFill>
              </a:rPr>
              <a:t>Cola, Tonic Water, Grape Soda, Sparkling Water: lowest profit per unit review pricing or positioning, not necessarily cut.</a:t>
            </a:r>
          </a:p>
        </p:txBody>
      </p:sp>
    </p:spTree>
    <p:extLst>
      <p:ext uri="{BB962C8B-B14F-4D97-AF65-F5344CB8AC3E}">
        <p14:creationId xmlns:p14="http://schemas.microsoft.com/office/powerpoint/2010/main" val="467159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AB50-6A3A-4036-7424-0B490E437BFD}"/>
              </a:ext>
            </a:extLst>
          </p:cNvPr>
          <p:cNvSpPr>
            <a:spLocks noGrp="1"/>
          </p:cNvSpPr>
          <p:nvPr>
            <p:ph type="title"/>
          </p:nvPr>
        </p:nvSpPr>
        <p:spPr/>
        <p:txBody>
          <a:bodyPr/>
          <a:lstStyle/>
          <a:p>
            <a:r>
              <a:rPr lang="en-US" dirty="0"/>
              <a:t>Key Takeaways &amp; Next Steps</a:t>
            </a:r>
          </a:p>
        </p:txBody>
      </p:sp>
      <p:sp>
        <p:nvSpPr>
          <p:cNvPr id="3" name="Content Placeholder 2">
            <a:extLst>
              <a:ext uri="{FF2B5EF4-FFF2-40B4-BE49-F238E27FC236}">
                <a16:creationId xmlns:a16="http://schemas.microsoft.com/office/drawing/2014/main" id="{6C4EBEBB-4571-82DC-33A2-66FFD5831668}"/>
              </a:ext>
            </a:extLst>
          </p:cNvPr>
          <p:cNvSpPr>
            <a:spLocks noGrp="1"/>
          </p:cNvSpPr>
          <p:nvPr>
            <p:ph idx="1"/>
          </p:nvPr>
        </p:nvSpPr>
        <p:spPr/>
        <p:txBody>
          <a:bodyPr>
            <a:normAutofit fontScale="92500" lnSpcReduction="20000"/>
          </a:bodyPr>
          <a:lstStyle/>
          <a:p>
            <a:pPr marL="228600" indent="-228600">
              <a:lnSpc>
                <a:spcPct val="130000"/>
              </a:lnSpc>
              <a:spcAft>
                <a:spcPts val="1200"/>
              </a:spcAft>
              <a:buFont typeface="Arial"/>
              <a:buChar char="•"/>
            </a:pPr>
            <a:r>
              <a:rPr lang="en-US" sz="1900" dirty="0"/>
              <a:t>Emerald Springs converted 44.4% of gross sales into profit in June, with tight discount discipline.</a:t>
            </a:r>
          </a:p>
          <a:p>
            <a:pPr marL="228600" indent="-228600">
              <a:lnSpc>
                <a:spcPct val="130000"/>
              </a:lnSpc>
              <a:spcAft>
                <a:spcPts val="1200"/>
              </a:spcAft>
              <a:buFont typeface="Arial"/>
              <a:buChar char="•"/>
            </a:pPr>
            <a:r>
              <a:rPr lang="en-US" sz="1900" dirty="0"/>
              <a:t>Revenue is concentrated: five counties, one dominant channel, and three customer types (Restaurant, Wholesaler, Hotel) driving most of the business.</a:t>
            </a:r>
          </a:p>
          <a:p>
            <a:pPr marL="228600" indent="-228600">
              <a:lnSpc>
                <a:spcPct val="130000"/>
              </a:lnSpc>
              <a:spcAft>
                <a:spcPts val="1200"/>
              </a:spcAft>
              <a:buFont typeface="Arial"/>
              <a:buChar char="•"/>
            </a:pPr>
            <a:r>
              <a:rPr lang="en-US" sz="1900" dirty="0"/>
              <a:t>The most profitable individual products are not in the largest revenue category, which should influence marketing and shelf priority decisions.</a:t>
            </a:r>
          </a:p>
          <a:p>
            <a:pPr marL="228600" indent="-228600">
              <a:lnSpc>
                <a:spcPct val="130000"/>
              </a:lnSpc>
              <a:spcAft>
                <a:spcPts val="1200"/>
              </a:spcAft>
              <a:buFont typeface="Arial"/>
              <a:buChar char="•"/>
            </a:pPr>
            <a:r>
              <a:rPr lang="en-US" sz="1900" dirty="0"/>
              <a:t>Supermarket and two major cities (Cork, Limerick) represent the clearest gaps worth investigating this quarter.</a:t>
            </a:r>
          </a:p>
          <a:p>
            <a:pPr marL="228600" indent="-228600">
              <a:lnSpc>
                <a:spcPct val="130000"/>
              </a:lnSpc>
              <a:spcAft>
                <a:spcPts val="1200"/>
              </a:spcAft>
              <a:buFont typeface="Arial"/>
              <a:buChar char="•"/>
            </a:pPr>
            <a:r>
              <a:rPr lang="en-US" sz="1900" b="1" dirty="0">
                <a:solidFill>
                  <a:srgbClr val="1E7145"/>
                </a:solidFill>
              </a:rPr>
              <a:t>Next step: </a:t>
            </a:r>
            <a:r>
              <a:rPr lang="en-US" sz="1900" dirty="0"/>
              <a:t>repeat this review monthly to see whether these patterns hold or shift, and apply the same channel-mix breakdown used for Louth, Waterford, and Wexford to the rest of the top counties.</a:t>
            </a:r>
          </a:p>
        </p:txBody>
      </p:sp>
    </p:spTree>
    <p:extLst>
      <p:ext uri="{BB962C8B-B14F-4D97-AF65-F5344CB8AC3E}">
        <p14:creationId xmlns:p14="http://schemas.microsoft.com/office/powerpoint/2010/main" val="4148719809"/>
      </p:ext>
    </p:extLst>
  </p:cSld>
  <p:clrMapOvr>
    <a:masterClrMapping/>
  </p:clrMapOvr>
</p:sld>
</file>

<file path=ppt/theme/theme1.xml><?xml version="1.0" encoding="utf-8"?>
<a:theme xmlns:a="http://schemas.openxmlformats.org/drawingml/2006/main" name="Office Theme [1788389802141]">
  <a:themeElements>
    <a:clrScheme name="Office">
      <a:dk1>
        <a:srgbClr val="1B3B2F"/>
      </a:dk1>
      <a:lt1>
        <a:srgbClr val="FFFFFF"/>
      </a:lt1>
      <a:dk2>
        <a:srgbClr val="0F2A20"/>
      </a:dk2>
      <a:lt2>
        <a:srgbClr val="EAF3EC"/>
      </a:lt2>
      <a:accent1>
        <a:srgbClr val="1E7145"/>
      </a:accent1>
      <a:accent2>
        <a:srgbClr val="4CA771"/>
      </a:accent2>
      <a:accent3>
        <a:srgbClr val="8FCB9B"/>
      </a:accent3>
      <a:accent4>
        <a:srgbClr val="2E5B4A"/>
      </a:accent4>
      <a:accent5>
        <a:srgbClr val="C9E4CE"/>
      </a:accent5>
      <a:accent6>
        <a:srgbClr val="A9C133"/>
      </a:accent6>
      <a:hlink>
        <a:srgbClr val="467886"/>
      </a:hlink>
      <a:folHlink>
        <a:srgbClr val="96607D"/>
      </a:folHlink>
    </a:clrScheme>
    <a:fontScheme name="Office">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30C7E0F-8D97-48CF-A082-2A5E9F19B552}">
  <we:reference id="wa200010725" version="1.0.0.1" store="en-GB" storeType="OMEX"/>
  <we:alternateReferences>
    <we:reference id="wa200010725" version="1.0.0.1" store="wa200010725" storeType="OMEX"/>
  </we:alternateReferences>
  <we:properties>
    <we:property name="claude.fileId" value="&quot;5c7a1304-ede3-4448-8afb-30a8b461e18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179</TotalTime>
  <Words>1923</Words>
  <Application>Microsoft Office PowerPoint</Application>
  <PresentationFormat>Widescreen</PresentationFormat>
  <Paragraphs>128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Lato</vt:lpstr>
      <vt:lpstr>Montserrat</vt:lpstr>
      <vt:lpstr>Office Theme [1788389802141]</vt:lpstr>
      <vt:lpstr>Emerald Springs Bottling Ltd</vt:lpstr>
      <vt:lpstr>Why I Needed This Review</vt:lpstr>
      <vt:lpstr>What I Set Out to Answer</vt:lpstr>
      <vt:lpstr>From Raw Data to Reliable Numbers</vt:lpstr>
      <vt:lpstr>How I Measured Performance</vt:lpstr>
      <vt:lpstr>The Business in Numbers</vt:lpstr>
      <vt:lpstr>Demand Through the Month</vt:lpstr>
      <vt:lpstr>Regional Performance</vt:lpstr>
      <vt:lpstr>Channel Performance</vt:lpstr>
      <vt:lpstr>Category Performance</vt:lpstr>
      <vt:lpstr>Product Profit Leaders</vt:lpstr>
      <vt:lpstr>Who Is Actually Buying</vt:lpstr>
      <vt:lpstr>Channel Mix: Not One-Size-Fits-All</vt:lpstr>
      <vt:lpstr>Strengths, Risks &amp; Opportunities</vt:lpstr>
      <vt:lpstr>Strongest &amp; Weakest Areas</vt:lpstr>
      <vt:lpstr>Recommendations</vt:lpstr>
      <vt:lpstr>Key Takeaways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Marvellous Umeilechukwu</dc:creator>
  <cp:lastModifiedBy>Marvellous Umeilechukwu</cp:lastModifiedBy>
  <cp:revision>2</cp:revision>
  <dcterms:created xsi:type="dcterms:W3CDTF">2026-09-02T22:56:41Z</dcterms:created>
  <dcterms:modified xsi:type="dcterms:W3CDTF">2026-09-04T11:44:35Z</dcterms:modified>
</cp:coreProperties>
</file>